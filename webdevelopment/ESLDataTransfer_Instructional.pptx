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217" r:id="rId1"/>
  </p:sldMasterIdLst>
  <p:notesMasterIdLst>
    <p:notesMasterId r:id="rId15"/>
  </p:notesMasterIdLst>
  <p:sldIdLst>
    <p:sldId id="256" r:id="rId2"/>
    <p:sldId id="257" r:id="rId3"/>
    <p:sldId id="258" r:id="rId4"/>
    <p:sldId id="259" r:id="rId5"/>
    <p:sldId id="260" r:id="rId6"/>
    <p:sldId id="261" r:id="rId7"/>
    <p:sldId id="264" r:id="rId8"/>
    <p:sldId id="268" r:id="rId9"/>
    <p:sldId id="270" r:id="rId10"/>
    <p:sldId id="269" r:id="rId11"/>
    <p:sldId id="262" r:id="rId12"/>
    <p:sldId id="271"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13"/>
  </p:normalViewPr>
  <p:slideViewPr>
    <p:cSldViewPr snapToGrid="0">
      <p:cViewPr varScale="1">
        <p:scale>
          <a:sx n="119" d="100"/>
          <a:sy n="119" d="100"/>
        </p:scale>
        <p:origin x="21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image" Target="../media/image7.svg"/></Relationships>
</file>

<file path=ppt/diagrams/_rels/drawing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AAAFAE-4A7E-8549-B1E3-7986CEF3F8FC}"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DDEE9AAE-66B1-EA4A-8D7A-FD85A5F9DB1D}">
      <dgm:prSet/>
      <dgm:spPr>
        <a:solidFill>
          <a:schemeClr val="accent4">
            <a:lumMod val="60000"/>
            <a:lumOff val="40000"/>
          </a:schemeClr>
        </a:solidFill>
      </dgm:spPr>
      <dgm:t>
        <a:bodyPr/>
        <a:lstStyle/>
        <a:p>
          <a:r>
            <a:rPr lang="en-US" dirty="0">
              <a:solidFill>
                <a:schemeClr val="bg1"/>
              </a:solidFill>
            </a:rPr>
            <a:t>Instructional opportunity: Create a training that properly explains how to identify EL students, transfer data, and complete ILPs accurately. </a:t>
          </a:r>
        </a:p>
      </dgm:t>
    </dgm:pt>
    <dgm:pt modelId="{E42AA07A-7080-D547-963F-BD8ED0DF4502}" type="parTrans" cxnId="{1EC896CE-02CD-554E-8320-3F1C92EA297E}">
      <dgm:prSet/>
      <dgm:spPr/>
      <dgm:t>
        <a:bodyPr/>
        <a:lstStyle/>
        <a:p>
          <a:endParaRPr lang="en-US"/>
        </a:p>
      </dgm:t>
    </dgm:pt>
    <dgm:pt modelId="{834803A0-2D0C-EE4B-AB3E-0DB5CA8826C1}" type="sibTrans" cxnId="{1EC896CE-02CD-554E-8320-3F1C92EA297E}">
      <dgm:prSet/>
      <dgm:spPr/>
      <dgm:t>
        <a:bodyPr/>
        <a:lstStyle/>
        <a:p>
          <a:endParaRPr lang="en-US"/>
        </a:p>
      </dgm:t>
    </dgm:pt>
    <dgm:pt modelId="{77516FA3-D992-A541-B031-56A7B6D77F66}" type="pres">
      <dgm:prSet presAssocID="{99AAAFAE-4A7E-8549-B1E3-7986CEF3F8FC}" presName="Name0" presStyleCnt="0">
        <dgm:presLayoutVars>
          <dgm:dir/>
          <dgm:resizeHandles val="exact"/>
        </dgm:presLayoutVars>
      </dgm:prSet>
      <dgm:spPr/>
    </dgm:pt>
    <dgm:pt modelId="{24B52B53-E029-CB47-8492-057E4D0B2A8C}" type="pres">
      <dgm:prSet presAssocID="{DDEE9AAE-66B1-EA4A-8D7A-FD85A5F9DB1D}" presName="node" presStyleLbl="node1" presStyleIdx="0" presStyleCnt="1">
        <dgm:presLayoutVars>
          <dgm:bulletEnabled val="1"/>
        </dgm:presLayoutVars>
      </dgm:prSet>
      <dgm:spPr/>
    </dgm:pt>
  </dgm:ptLst>
  <dgm:cxnLst>
    <dgm:cxn modelId="{8221A3A9-988C-3B43-9952-964F5548774D}" type="presOf" srcId="{DDEE9AAE-66B1-EA4A-8D7A-FD85A5F9DB1D}" destId="{24B52B53-E029-CB47-8492-057E4D0B2A8C}" srcOrd="0" destOrd="0" presId="urn:microsoft.com/office/officeart/2005/8/layout/process1"/>
    <dgm:cxn modelId="{6F42E5CA-EF79-9141-A9C7-8180BC38F911}" type="presOf" srcId="{99AAAFAE-4A7E-8549-B1E3-7986CEF3F8FC}" destId="{77516FA3-D992-A541-B031-56A7B6D77F66}" srcOrd="0" destOrd="0" presId="urn:microsoft.com/office/officeart/2005/8/layout/process1"/>
    <dgm:cxn modelId="{1EC896CE-02CD-554E-8320-3F1C92EA297E}" srcId="{99AAAFAE-4A7E-8549-B1E3-7986CEF3F8FC}" destId="{DDEE9AAE-66B1-EA4A-8D7A-FD85A5F9DB1D}" srcOrd="0" destOrd="0" parTransId="{E42AA07A-7080-D547-963F-BD8ED0DF4502}" sibTransId="{834803A0-2D0C-EE4B-AB3E-0DB5CA8826C1}"/>
    <dgm:cxn modelId="{4051D9A0-2FDF-364E-AB21-F5F3B6D2B543}" type="presParOf" srcId="{77516FA3-D992-A541-B031-56A7B6D77F66}" destId="{24B52B53-E029-CB47-8492-057E4D0B2A8C}" srcOrd="0" destOrd="0" presId="urn:microsoft.com/office/officeart/2005/8/layout/process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EEB1EE-EAFC-4BA8-A3B9-9BD49A5C37AF}"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B1CB51A-29D3-419C-99A0-23291CFD9A7E}">
      <dgm:prSet custT="1"/>
      <dgm:spPr/>
      <dgm:t>
        <a:bodyPr/>
        <a:lstStyle/>
        <a:p>
          <a:r>
            <a:rPr lang="en-US" sz="1600" b="1" dirty="0"/>
            <a:t>1a: Given access to </a:t>
          </a:r>
          <a:r>
            <a:rPr lang="en-US" sz="1600" b="1" dirty="0" err="1"/>
            <a:t>ELLevation</a:t>
          </a:r>
          <a:r>
            <a:rPr lang="en-US" sz="1600" b="1" dirty="0"/>
            <a:t>, ESL teachers will learn how to filter and identify EL students on their caseload with 100% accuracy </a:t>
          </a:r>
        </a:p>
      </dgm:t>
    </dgm:pt>
    <dgm:pt modelId="{D45F74BB-FD0B-4237-83B4-DC95FE820177}" type="parTrans" cxnId="{62BBB5F0-0A22-47FA-B830-C6C7FDFDF180}">
      <dgm:prSet/>
      <dgm:spPr/>
      <dgm:t>
        <a:bodyPr/>
        <a:lstStyle/>
        <a:p>
          <a:endParaRPr lang="en-US"/>
        </a:p>
      </dgm:t>
    </dgm:pt>
    <dgm:pt modelId="{0E691CD6-12DF-4FB6-9265-3FA7202FA8D7}" type="sibTrans" cxnId="{62BBB5F0-0A22-47FA-B830-C6C7FDFDF180}">
      <dgm:prSet/>
      <dgm:spPr/>
      <dgm:t>
        <a:bodyPr/>
        <a:lstStyle/>
        <a:p>
          <a:endParaRPr lang="en-US"/>
        </a:p>
      </dgm:t>
    </dgm:pt>
    <dgm:pt modelId="{2F50668A-77F2-4FE1-B973-1A065E790635}">
      <dgm:prSet custT="1"/>
      <dgm:spPr/>
      <dgm:t>
        <a:bodyPr/>
        <a:lstStyle/>
        <a:p>
          <a:r>
            <a:rPr lang="en-US" sz="1600" b="1" dirty="0"/>
            <a:t>1b: Demonstrate understanding of why accuracy is important.</a:t>
          </a:r>
        </a:p>
      </dgm:t>
    </dgm:pt>
    <dgm:pt modelId="{9AE8F35E-E8CE-49FA-9BCA-C57AC40E3BFC}" type="parTrans" cxnId="{C297EE69-1EE5-48D5-B259-0D3410D6A7AF}">
      <dgm:prSet/>
      <dgm:spPr/>
      <dgm:t>
        <a:bodyPr/>
        <a:lstStyle/>
        <a:p>
          <a:endParaRPr lang="en-US"/>
        </a:p>
      </dgm:t>
    </dgm:pt>
    <dgm:pt modelId="{F2A35F01-5D9F-4BB3-8DC9-D401DAA58ACA}" type="sibTrans" cxnId="{C297EE69-1EE5-48D5-B259-0D3410D6A7AF}">
      <dgm:prSet/>
      <dgm:spPr/>
      <dgm:t>
        <a:bodyPr/>
        <a:lstStyle/>
        <a:p>
          <a:endParaRPr lang="en-US"/>
        </a:p>
      </dgm:t>
    </dgm:pt>
    <dgm:pt modelId="{A7C73091-80BA-4B62-AEAC-756795CA71C9}" type="pres">
      <dgm:prSet presAssocID="{5FEEB1EE-EAFC-4BA8-A3B9-9BD49A5C37AF}" presName="root" presStyleCnt="0">
        <dgm:presLayoutVars>
          <dgm:dir/>
          <dgm:resizeHandles val="exact"/>
        </dgm:presLayoutVars>
      </dgm:prSet>
      <dgm:spPr/>
    </dgm:pt>
    <dgm:pt modelId="{7E438E18-A8F2-403D-82E7-528BBF91BC2D}" type="pres">
      <dgm:prSet presAssocID="{6B1CB51A-29D3-419C-99A0-23291CFD9A7E}" presName="compNode" presStyleCnt="0"/>
      <dgm:spPr/>
    </dgm:pt>
    <dgm:pt modelId="{BDF5F1BB-3214-4DDE-9C65-B44704812301}" type="pres">
      <dgm:prSet presAssocID="{6B1CB51A-29D3-419C-99A0-23291CFD9A7E}"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assroom"/>
        </a:ext>
      </dgm:extLst>
    </dgm:pt>
    <dgm:pt modelId="{A52FBF1D-F3FC-47F2-8861-5124970EC45A}" type="pres">
      <dgm:prSet presAssocID="{6B1CB51A-29D3-419C-99A0-23291CFD9A7E}" presName="spaceRect" presStyleCnt="0"/>
      <dgm:spPr/>
    </dgm:pt>
    <dgm:pt modelId="{93441A92-7C1D-47F8-ADC9-B76FCDC3667B}" type="pres">
      <dgm:prSet presAssocID="{6B1CB51A-29D3-419C-99A0-23291CFD9A7E}" presName="textRect" presStyleLbl="revTx" presStyleIdx="0" presStyleCnt="2">
        <dgm:presLayoutVars>
          <dgm:chMax val="1"/>
          <dgm:chPref val="1"/>
        </dgm:presLayoutVars>
      </dgm:prSet>
      <dgm:spPr/>
    </dgm:pt>
    <dgm:pt modelId="{AC8F13F0-8B27-4BFC-A412-542F8DB9D019}" type="pres">
      <dgm:prSet presAssocID="{0E691CD6-12DF-4FB6-9265-3FA7202FA8D7}" presName="sibTrans" presStyleCnt="0"/>
      <dgm:spPr/>
    </dgm:pt>
    <dgm:pt modelId="{E9530A9D-2C06-4E3B-A28F-AA9954158A97}" type="pres">
      <dgm:prSet presAssocID="{2F50668A-77F2-4FE1-B973-1A065E790635}" presName="compNode" presStyleCnt="0"/>
      <dgm:spPr/>
    </dgm:pt>
    <dgm:pt modelId="{9A44B4EA-7E05-437C-81F5-1864E5505A07}" type="pres">
      <dgm:prSet presAssocID="{2F50668A-77F2-4FE1-B973-1A065E790635}"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F2EE2D73-3D16-4778-9255-3361A4A8234C}" type="pres">
      <dgm:prSet presAssocID="{2F50668A-77F2-4FE1-B973-1A065E790635}" presName="spaceRect" presStyleCnt="0"/>
      <dgm:spPr/>
    </dgm:pt>
    <dgm:pt modelId="{A0EECB3E-28AA-4B99-B5E1-4F14D6B7483A}" type="pres">
      <dgm:prSet presAssocID="{2F50668A-77F2-4FE1-B973-1A065E790635}" presName="textRect" presStyleLbl="revTx" presStyleIdx="1" presStyleCnt="2">
        <dgm:presLayoutVars>
          <dgm:chMax val="1"/>
          <dgm:chPref val="1"/>
        </dgm:presLayoutVars>
      </dgm:prSet>
      <dgm:spPr/>
    </dgm:pt>
  </dgm:ptLst>
  <dgm:cxnLst>
    <dgm:cxn modelId="{C0C2F92B-148E-442C-9BC0-6C76254150F4}" type="presOf" srcId="{5FEEB1EE-EAFC-4BA8-A3B9-9BD49A5C37AF}" destId="{A7C73091-80BA-4B62-AEAC-756795CA71C9}" srcOrd="0" destOrd="0" presId="urn:microsoft.com/office/officeart/2018/2/layout/IconLabelList"/>
    <dgm:cxn modelId="{C297EE69-1EE5-48D5-B259-0D3410D6A7AF}" srcId="{5FEEB1EE-EAFC-4BA8-A3B9-9BD49A5C37AF}" destId="{2F50668A-77F2-4FE1-B973-1A065E790635}" srcOrd="1" destOrd="0" parTransId="{9AE8F35E-E8CE-49FA-9BCA-C57AC40E3BFC}" sibTransId="{F2A35F01-5D9F-4BB3-8DC9-D401DAA58ACA}"/>
    <dgm:cxn modelId="{C8A47FB3-E9B6-4424-8829-9359E9D04A23}" type="presOf" srcId="{2F50668A-77F2-4FE1-B973-1A065E790635}" destId="{A0EECB3E-28AA-4B99-B5E1-4F14D6B7483A}" srcOrd="0" destOrd="0" presId="urn:microsoft.com/office/officeart/2018/2/layout/IconLabelList"/>
    <dgm:cxn modelId="{A509C2E7-8A44-4A63-A9E8-766EA2FFB56A}" type="presOf" srcId="{6B1CB51A-29D3-419C-99A0-23291CFD9A7E}" destId="{93441A92-7C1D-47F8-ADC9-B76FCDC3667B}" srcOrd="0" destOrd="0" presId="urn:microsoft.com/office/officeart/2018/2/layout/IconLabelList"/>
    <dgm:cxn modelId="{62BBB5F0-0A22-47FA-B830-C6C7FDFDF180}" srcId="{5FEEB1EE-EAFC-4BA8-A3B9-9BD49A5C37AF}" destId="{6B1CB51A-29D3-419C-99A0-23291CFD9A7E}" srcOrd="0" destOrd="0" parTransId="{D45F74BB-FD0B-4237-83B4-DC95FE820177}" sibTransId="{0E691CD6-12DF-4FB6-9265-3FA7202FA8D7}"/>
    <dgm:cxn modelId="{EAFD6D40-8D1F-492F-9190-4ACEC1C8BC73}" type="presParOf" srcId="{A7C73091-80BA-4B62-AEAC-756795CA71C9}" destId="{7E438E18-A8F2-403D-82E7-528BBF91BC2D}" srcOrd="0" destOrd="0" presId="urn:microsoft.com/office/officeart/2018/2/layout/IconLabelList"/>
    <dgm:cxn modelId="{E3544EF2-6C90-4002-9449-8552EB733397}" type="presParOf" srcId="{7E438E18-A8F2-403D-82E7-528BBF91BC2D}" destId="{BDF5F1BB-3214-4DDE-9C65-B44704812301}" srcOrd="0" destOrd="0" presId="urn:microsoft.com/office/officeart/2018/2/layout/IconLabelList"/>
    <dgm:cxn modelId="{42C8890A-0F4A-4E51-8D60-AC43326EB952}" type="presParOf" srcId="{7E438E18-A8F2-403D-82E7-528BBF91BC2D}" destId="{A52FBF1D-F3FC-47F2-8861-5124970EC45A}" srcOrd="1" destOrd="0" presId="urn:microsoft.com/office/officeart/2018/2/layout/IconLabelList"/>
    <dgm:cxn modelId="{BD1F76AD-364E-4340-8DC0-98F2C814C48E}" type="presParOf" srcId="{7E438E18-A8F2-403D-82E7-528BBF91BC2D}" destId="{93441A92-7C1D-47F8-ADC9-B76FCDC3667B}" srcOrd="2" destOrd="0" presId="urn:microsoft.com/office/officeart/2018/2/layout/IconLabelList"/>
    <dgm:cxn modelId="{CA0581EA-3FB1-47C3-9954-F8F74262D57A}" type="presParOf" srcId="{A7C73091-80BA-4B62-AEAC-756795CA71C9}" destId="{AC8F13F0-8B27-4BFC-A412-542F8DB9D019}" srcOrd="1" destOrd="0" presId="urn:microsoft.com/office/officeart/2018/2/layout/IconLabelList"/>
    <dgm:cxn modelId="{64A040A5-CC9E-45A3-B9E4-3FC2F4DBDB61}" type="presParOf" srcId="{A7C73091-80BA-4B62-AEAC-756795CA71C9}" destId="{E9530A9D-2C06-4E3B-A28F-AA9954158A97}" srcOrd="2" destOrd="0" presId="urn:microsoft.com/office/officeart/2018/2/layout/IconLabelList"/>
    <dgm:cxn modelId="{050986C6-4CA5-42D2-A928-AA9108350909}" type="presParOf" srcId="{E9530A9D-2C06-4E3B-A28F-AA9954158A97}" destId="{9A44B4EA-7E05-437C-81F5-1864E5505A07}" srcOrd="0" destOrd="0" presId="urn:microsoft.com/office/officeart/2018/2/layout/IconLabelList"/>
    <dgm:cxn modelId="{28B3234D-F0B9-4896-9DB4-A2CE9E36FD01}" type="presParOf" srcId="{E9530A9D-2C06-4E3B-A28F-AA9954158A97}" destId="{F2EE2D73-3D16-4778-9255-3361A4A8234C}" srcOrd="1" destOrd="0" presId="urn:microsoft.com/office/officeart/2018/2/layout/IconLabelList"/>
    <dgm:cxn modelId="{509AC034-34DF-4B9B-8492-10017D4653BD}" type="presParOf" srcId="{E9530A9D-2C06-4E3B-A28F-AA9954158A97}" destId="{A0EECB3E-28AA-4B99-B5E1-4F14D6B7483A}" srcOrd="2" destOrd="0" presId="urn:microsoft.com/office/officeart/2018/2/layout/IconLabel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B52B53-E029-CB47-8492-057E4D0B2A8C}">
      <dsp:nvSpPr>
        <dsp:cNvPr id="0" name=""/>
        <dsp:cNvSpPr/>
      </dsp:nvSpPr>
      <dsp:spPr>
        <a:xfrm>
          <a:off x="2203" y="0"/>
          <a:ext cx="4508640" cy="1200329"/>
        </a:xfrm>
        <a:prstGeom prst="roundRect">
          <a:avLst>
            <a:gd name="adj" fmla="val 10000"/>
          </a:avLst>
        </a:prstGeom>
        <a:solidFill>
          <a:schemeClr val="accent4">
            <a:lumMod val="60000"/>
            <a:lumOff val="4000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solidFill>
                <a:schemeClr val="bg1"/>
              </a:solidFill>
            </a:rPr>
            <a:t>Instructional opportunity: Create a training that properly explains how to identify EL students, transfer data, and complete ILPs accurately. </a:t>
          </a:r>
        </a:p>
      </dsp:txBody>
      <dsp:txXfrm>
        <a:off x="37359" y="35156"/>
        <a:ext cx="4438328" cy="11300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F5F1BB-3214-4DDE-9C65-B44704812301}">
      <dsp:nvSpPr>
        <dsp:cNvPr id="0" name=""/>
        <dsp:cNvSpPr/>
      </dsp:nvSpPr>
      <dsp:spPr>
        <a:xfrm>
          <a:off x="1937684" y="296539"/>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3441A92-7C1D-47F8-ADC9-B76FCDC3667B}">
      <dsp:nvSpPr>
        <dsp:cNvPr id="0" name=""/>
        <dsp:cNvSpPr/>
      </dsp:nvSpPr>
      <dsp:spPr>
        <a:xfrm>
          <a:off x="749684" y="2742805"/>
          <a:ext cx="4320000" cy="9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b="1" kern="1200" dirty="0"/>
            <a:t>1a: Given access to </a:t>
          </a:r>
          <a:r>
            <a:rPr lang="en-US" sz="1600" b="1" kern="1200" dirty="0" err="1"/>
            <a:t>ELLevation</a:t>
          </a:r>
          <a:r>
            <a:rPr lang="en-US" sz="1600" b="1" kern="1200" dirty="0"/>
            <a:t>, ESL teachers will learn how to filter and identify EL students on their caseload with 100% accuracy </a:t>
          </a:r>
        </a:p>
      </dsp:txBody>
      <dsp:txXfrm>
        <a:off x="749684" y="2742805"/>
        <a:ext cx="4320000" cy="900000"/>
      </dsp:txXfrm>
    </dsp:sp>
    <dsp:sp modelId="{9A44B4EA-7E05-437C-81F5-1864E5505A07}">
      <dsp:nvSpPr>
        <dsp:cNvPr id="0" name=""/>
        <dsp:cNvSpPr/>
      </dsp:nvSpPr>
      <dsp:spPr>
        <a:xfrm>
          <a:off x="7013685" y="296539"/>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0EECB3E-28AA-4B99-B5E1-4F14D6B7483A}">
      <dsp:nvSpPr>
        <dsp:cNvPr id="0" name=""/>
        <dsp:cNvSpPr/>
      </dsp:nvSpPr>
      <dsp:spPr>
        <a:xfrm>
          <a:off x="5825684" y="2742805"/>
          <a:ext cx="4320000" cy="90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en-US" sz="1600" b="1" kern="1200" dirty="0"/>
            <a:t>1b: Demonstrate understanding of why accuracy is important.</a:t>
          </a:r>
        </a:p>
      </dsp:txBody>
      <dsp:txXfrm>
        <a:off x="5825684" y="2742805"/>
        <a:ext cx="4320000" cy="90000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FED9B7-F433-334A-B621-746C365495DD}" type="datetimeFigureOut">
              <a:rPr lang="en-US" smtClean="0"/>
              <a:t>4/26/26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A41945-346B-0D4C-94D9-E3592C6DCA9A}" type="slidenum">
              <a:rPr lang="en-US" smtClean="0"/>
              <a:t>‹#›</a:t>
            </a:fld>
            <a:endParaRPr lang="en-US"/>
          </a:p>
        </p:txBody>
      </p:sp>
    </p:spTree>
    <p:extLst>
      <p:ext uri="{BB962C8B-B14F-4D97-AF65-F5344CB8AC3E}">
        <p14:creationId xmlns:p14="http://schemas.microsoft.com/office/powerpoint/2010/main" val="3121630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 will be reviewing materials created to help learners transfer ESL date from the data management platform to a new platform known as TN-Pulse. The title of this training is Transferring ESL Data Across Platforms. It was designed to help teachers accurately complete ILPs for EL students.</a:t>
            </a:r>
          </a:p>
        </p:txBody>
      </p:sp>
      <p:sp>
        <p:nvSpPr>
          <p:cNvPr id="4" name="Slide Number Placeholder 3"/>
          <p:cNvSpPr>
            <a:spLocks noGrp="1"/>
          </p:cNvSpPr>
          <p:nvPr>
            <p:ph type="sldNum" sz="quarter" idx="5"/>
          </p:nvPr>
        </p:nvSpPr>
        <p:spPr/>
        <p:txBody>
          <a:bodyPr/>
          <a:lstStyle/>
          <a:p>
            <a:fld id="{88A41945-346B-0D4C-94D9-E3592C6DCA9A}" type="slidenum">
              <a:rPr lang="en-US" smtClean="0"/>
              <a:t>1</a:t>
            </a:fld>
            <a:endParaRPr lang="en-US"/>
          </a:p>
        </p:txBody>
      </p:sp>
    </p:spTree>
    <p:extLst>
      <p:ext uri="{BB962C8B-B14F-4D97-AF65-F5344CB8AC3E}">
        <p14:creationId xmlns:p14="http://schemas.microsoft.com/office/powerpoint/2010/main" val="4129312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problem</a:t>
            </a:r>
          </a:p>
          <a:p>
            <a:r>
              <a:rPr lang="en-US" dirty="0"/>
              <a:t>Current performance </a:t>
            </a:r>
          </a:p>
          <a:p>
            <a:r>
              <a:rPr lang="en-US" dirty="0"/>
              <a:t>desired performance</a:t>
            </a:r>
          </a:p>
        </p:txBody>
      </p:sp>
      <p:sp>
        <p:nvSpPr>
          <p:cNvPr id="4" name="Slide Number Placeholder 3"/>
          <p:cNvSpPr>
            <a:spLocks noGrp="1"/>
          </p:cNvSpPr>
          <p:nvPr>
            <p:ph type="sldNum" sz="quarter" idx="5"/>
          </p:nvPr>
        </p:nvSpPr>
        <p:spPr/>
        <p:txBody>
          <a:bodyPr/>
          <a:lstStyle/>
          <a:p>
            <a:fld id="{88A41945-346B-0D4C-94D9-E3592C6DCA9A}" type="slidenum">
              <a:rPr lang="en-US" smtClean="0"/>
              <a:t>2</a:t>
            </a:fld>
            <a:endParaRPr lang="en-US"/>
          </a:p>
        </p:txBody>
      </p:sp>
    </p:spTree>
    <p:extLst>
      <p:ext uri="{BB962C8B-B14F-4D97-AF65-F5344CB8AC3E}">
        <p14:creationId xmlns:p14="http://schemas.microsoft.com/office/powerpoint/2010/main" val="1679249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information gained from my interview and survey, I learned...</a:t>
            </a:r>
          </a:p>
        </p:txBody>
      </p:sp>
      <p:sp>
        <p:nvSpPr>
          <p:cNvPr id="4" name="Slide Number Placeholder 3"/>
          <p:cNvSpPr>
            <a:spLocks noGrp="1"/>
          </p:cNvSpPr>
          <p:nvPr>
            <p:ph type="sldNum" sz="quarter" idx="5"/>
          </p:nvPr>
        </p:nvSpPr>
        <p:spPr/>
        <p:txBody>
          <a:bodyPr/>
          <a:lstStyle/>
          <a:p>
            <a:fld id="{88A41945-346B-0D4C-94D9-E3592C6DCA9A}" type="slidenum">
              <a:rPr lang="en-US" smtClean="0"/>
              <a:t>3</a:t>
            </a:fld>
            <a:endParaRPr lang="en-US"/>
          </a:p>
        </p:txBody>
      </p:sp>
    </p:spTree>
    <p:extLst>
      <p:ext uri="{BB962C8B-B14F-4D97-AF65-F5344CB8AC3E}">
        <p14:creationId xmlns:p14="http://schemas.microsoft.com/office/powerpoint/2010/main" val="2451727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main objectives for this training.</a:t>
            </a:r>
          </a:p>
        </p:txBody>
      </p:sp>
      <p:sp>
        <p:nvSpPr>
          <p:cNvPr id="4" name="Slide Number Placeholder 3"/>
          <p:cNvSpPr>
            <a:spLocks noGrp="1"/>
          </p:cNvSpPr>
          <p:nvPr>
            <p:ph type="sldNum" sz="quarter" idx="5"/>
          </p:nvPr>
        </p:nvSpPr>
        <p:spPr/>
        <p:txBody>
          <a:bodyPr/>
          <a:lstStyle/>
          <a:p>
            <a:fld id="{88A41945-346B-0D4C-94D9-E3592C6DCA9A}" type="slidenum">
              <a:rPr lang="en-US" smtClean="0"/>
              <a:t>4</a:t>
            </a:fld>
            <a:endParaRPr lang="en-US"/>
          </a:p>
        </p:txBody>
      </p:sp>
    </p:spTree>
    <p:extLst>
      <p:ext uri="{BB962C8B-B14F-4D97-AF65-F5344CB8AC3E}">
        <p14:creationId xmlns:p14="http://schemas.microsoft.com/office/powerpoint/2010/main" val="3181852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activities that will help the learner reach the objectives stated, and the assessments to determine if the activities were successful in helping them gain information and meet the objectives. </a:t>
            </a:r>
          </a:p>
        </p:txBody>
      </p:sp>
      <p:sp>
        <p:nvSpPr>
          <p:cNvPr id="4" name="Slide Number Placeholder 3"/>
          <p:cNvSpPr>
            <a:spLocks noGrp="1"/>
          </p:cNvSpPr>
          <p:nvPr>
            <p:ph type="sldNum" sz="quarter" idx="5"/>
          </p:nvPr>
        </p:nvSpPr>
        <p:spPr/>
        <p:txBody>
          <a:bodyPr/>
          <a:lstStyle/>
          <a:p>
            <a:fld id="{88A41945-346B-0D4C-94D9-E3592C6DCA9A}" type="slidenum">
              <a:rPr lang="en-US" smtClean="0"/>
              <a:t>5</a:t>
            </a:fld>
            <a:endParaRPr lang="en-US"/>
          </a:p>
        </p:txBody>
      </p:sp>
    </p:spTree>
    <p:extLst>
      <p:ext uri="{BB962C8B-B14F-4D97-AF65-F5344CB8AC3E}">
        <p14:creationId xmlns:p14="http://schemas.microsoft.com/office/powerpoint/2010/main" val="29063716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take a closer look at objective 1</a:t>
            </a:r>
          </a:p>
        </p:txBody>
      </p:sp>
      <p:sp>
        <p:nvSpPr>
          <p:cNvPr id="4" name="Slide Number Placeholder 3"/>
          <p:cNvSpPr>
            <a:spLocks noGrp="1"/>
          </p:cNvSpPr>
          <p:nvPr>
            <p:ph type="sldNum" sz="quarter" idx="5"/>
          </p:nvPr>
        </p:nvSpPr>
        <p:spPr/>
        <p:txBody>
          <a:bodyPr/>
          <a:lstStyle/>
          <a:p>
            <a:fld id="{88A41945-346B-0D4C-94D9-E3592C6DCA9A}" type="slidenum">
              <a:rPr lang="en-US" smtClean="0"/>
              <a:t>6</a:t>
            </a:fld>
            <a:endParaRPr lang="en-US"/>
          </a:p>
        </p:txBody>
      </p:sp>
    </p:spTree>
    <p:extLst>
      <p:ext uri="{BB962C8B-B14F-4D97-AF65-F5344CB8AC3E}">
        <p14:creationId xmlns:p14="http://schemas.microsoft.com/office/powerpoint/2010/main" val="4100693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objectives for module one.</a:t>
            </a:r>
          </a:p>
        </p:txBody>
      </p:sp>
      <p:sp>
        <p:nvSpPr>
          <p:cNvPr id="4" name="Slide Number Placeholder 3"/>
          <p:cNvSpPr>
            <a:spLocks noGrp="1"/>
          </p:cNvSpPr>
          <p:nvPr>
            <p:ph type="sldNum" sz="quarter" idx="5"/>
          </p:nvPr>
        </p:nvSpPr>
        <p:spPr/>
        <p:txBody>
          <a:bodyPr/>
          <a:lstStyle/>
          <a:p>
            <a:fld id="{88A41945-346B-0D4C-94D9-E3592C6DCA9A}" type="slidenum">
              <a:rPr lang="en-US" smtClean="0"/>
              <a:t>7</a:t>
            </a:fld>
            <a:endParaRPr lang="en-US"/>
          </a:p>
        </p:txBody>
      </p:sp>
    </p:spTree>
    <p:extLst>
      <p:ext uri="{BB962C8B-B14F-4D97-AF65-F5344CB8AC3E}">
        <p14:creationId xmlns:p14="http://schemas.microsoft.com/office/powerpoint/2010/main" val="30234940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objective I developed a few instructional strategies to help the learners reach the objective</a:t>
            </a:r>
          </a:p>
        </p:txBody>
      </p:sp>
      <p:sp>
        <p:nvSpPr>
          <p:cNvPr id="4" name="Slide Number Placeholder 3"/>
          <p:cNvSpPr>
            <a:spLocks noGrp="1"/>
          </p:cNvSpPr>
          <p:nvPr>
            <p:ph type="sldNum" sz="quarter" idx="5"/>
          </p:nvPr>
        </p:nvSpPr>
        <p:spPr/>
        <p:txBody>
          <a:bodyPr/>
          <a:lstStyle/>
          <a:p>
            <a:fld id="{88A41945-346B-0D4C-94D9-E3592C6DCA9A}" type="slidenum">
              <a:rPr lang="en-US" smtClean="0"/>
              <a:t>8</a:t>
            </a:fld>
            <a:endParaRPr lang="en-US"/>
          </a:p>
        </p:txBody>
      </p:sp>
    </p:spTree>
    <p:extLst>
      <p:ext uri="{BB962C8B-B14F-4D97-AF65-F5344CB8AC3E}">
        <p14:creationId xmlns:p14="http://schemas.microsoft.com/office/powerpoint/2010/main" val="24167922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will engage in a video that will review the steps of how to sort and identify students in the </a:t>
            </a:r>
            <a:r>
              <a:rPr lang="en-US" dirty="0" err="1"/>
              <a:t>ELLevation</a:t>
            </a:r>
            <a:r>
              <a:rPr lang="en-US" dirty="0"/>
              <a:t> platform. </a:t>
            </a:r>
          </a:p>
        </p:txBody>
      </p:sp>
      <p:sp>
        <p:nvSpPr>
          <p:cNvPr id="4" name="Slide Number Placeholder 3"/>
          <p:cNvSpPr>
            <a:spLocks noGrp="1"/>
          </p:cNvSpPr>
          <p:nvPr>
            <p:ph type="sldNum" sz="quarter" idx="5"/>
          </p:nvPr>
        </p:nvSpPr>
        <p:spPr/>
        <p:txBody>
          <a:bodyPr/>
          <a:lstStyle/>
          <a:p>
            <a:fld id="{88A41945-346B-0D4C-94D9-E3592C6DCA9A}" type="slidenum">
              <a:rPr lang="en-US" smtClean="0"/>
              <a:t>9</a:t>
            </a:fld>
            <a:endParaRPr lang="en-US"/>
          </a:p>
        </p:txBody>
      </p:sp>
    </p:spTree>
    <p:extLst>
      <p:ext uri="{BB962C8B-B14F-4D97-AF65-F5344CB8AC3E}">
        <p14:creationId xmlns:p14="http://schemas.microsoft.com/office/powerpoint/2010/main" val="4982305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example of an activity that the learner will engage in related to the objective. </a:t>
            </a:r>
          </a:p>
        </p:txBody>
      </p:sp>
      <p:sp>
        <p:nvSpPr>
          <p:cNvPr id="4" name="Slide Number Placeholder 3"/>
          <p:cNvSpPr>
            <a:spLocks noGrp="1"/>
          </p:cNvSpPr>
          <p:nvPr>
            <p:ph type="sldNum" sz="quarter" idx="5"/>
          </p:nvPr>
        </p:nvSpPr>
        <p:spPr/>
        <p:txBody>
          <a:bodyPr/>
          <a:lstStyle/>
          <a:p>
            <a:fld id="{88A41945-346B-0D4C-94D9-E3592C6DCA9A}" type="slidenum">
              <a:rPr lang="en-US" smtClean="0"/>
              <a:t>10</a:t>
            </a:fld>
            <a:endParaRPr lang="en-US"/>
          </a:p>
        </p:txBody>
      </p:sp>
    </p:spTree>
    <p:extLst>
      <p:ext uri="{BB962C8B-B14F-4D97-AF65-F5344CB8AC3E}">
        <p14:creationId xmlns:p14="http://schemas.microsoft.com/office/powerpoint/2010/main" val="23508266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example of what the training could potentially look like </a:t>
            </a:r>
          </a:p>
        </p:txBody>
      </p:sp>
      <p:sp>
        <p:nvSpPr>
          <p:cNvPr id="4" name="Slide Number Placeholder 3"/>
          <p:cNvSpPr>
            <a:spLocks noGrp="1"/>
          </p:cNvSpPr>
          <p:nvPr>
            <p:ph type="sldNum" sz="quarter" idx="5"/>
          </p:nvPr>
        </p:nvSpPr>
        <p:spPr/>
        <p:txBody>
          <a:bodyPr/>
          <a:lstStyle/>
          <a:p>
            <a:fld id="{88A41945-346B-0D4C-94D9-E3592C6DCA9A}" type="slidenum">
              <a:rPr lang="en-US" smtClean="0"/>
              <a:t>11</a:t>
            </a:fld>
            <a:endParaRPr lang="en-US"/>
          </a:p>
        </p:txBody>
      </p:sp>
    </p:spTree>
    <p:extLst>
      <p:ext uri="{BB962C8B-B14F-4D97-AF65-F5344CB8AC3E}">
        <p14:creationId xmlns:p14="http://schemas.microsoft.com/office/powerpoint/2010/main" val="3432400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have sample questions for the assessment portion of the training. The questions will cover both parts of objective 1. </a:t>
            </a:r>
          </a:p>
        </p:txBody>
      </p:sp>
      <p:sp>
        <p:nvSpPr>
          <p:cNvPr id="4" name="Slide Number Placeholder 3"/>
          <p:cNvSpPr>
            <a:spLocks noGrp="1"/>
          </p:cNvSpPr>
          <p:nvPr>
            <p:ph type="sldNum" sz="quarter" idx="5"/>
          </p:nvPr>
        </p:nvSpPr>
        <p:spPr/>
        <p:txBody>
          <a:bodyPr/>
          <a:lstStyle/>
          <a:p>
            <a:fld id="{88A41945-346B-0D4C-94D9-E3592C6DCA9A}" type="slidenum">
              <a:rPr lang="en-US" smtClean="0"/>
              <a:t>12</a:t>
            </a:fld>
            <a:endParaRPr lang="en-US"/>
          </a:p>
        </p:txBody>
      </p:sp>
    </p:spTree>
    <p:extLst>
      <p:ext uri="{BB962C8B-B14F-4D97-AF65-F5344CB8AC3E}">
        <p14:creationId xmlns:p14="http://schemas.microsoft.com/office/powerpoint/2010/main" val="628458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job aid will also be created to help guide the learners as they work to identify students and complete ILPs.</a:t>
            </a:r>
          </a:p>
        </p:txBody>
      </p:sp>
      <p:sp>
        <p:nvSpPr>
          <p:cNvPr id="4" name="Slide Number Placeholder 3"/>
          <p:cNvSpPr>
            <a:spLocks noGrp="1"/>
          </p:cNvSpPr>
          <p:nvPr>
            <p:ph type="sldNum" sz="quarter" idx="5"/>
          </p:nvPr>
        </p:nvSpPr>
        <p:spPr/>
        <p:txBody>
          <a:bodyPr/>
          <a:lstStyle/>
          <a:p>
            <a:fld id="{88A41945-346B-0D4C-94D9-E3592C6DCA9A}" type="slidenum">
              <a:rPr lang="en-US" smtClean="0"/>
              <a:t>13</a:t>
            </a:fld>
            <a:endParaRPr lang="en-US"/>
          </a:p>
        </p:txBody>
      </p:sp>
    </p:spTree>
    <p:extLst>
      <p:ext uri="{BB962C8B-B14F-4D97-AF65-F5344CB8AC3E}">
        <p14:creationId xmlns:p14="http://schemas.microsoft.com/office/powerpoint/2010/main" val="1725801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7573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45072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0772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4/25/26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48551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4/25/26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83589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61BEF0D-F0BB-DE4B-95CE-6DB70DBA9567}" type="datetimeFigureOut">
              <a:rPr lang="en-US" smtClean="0"/>
              <a:pPr/>
              <a:t>4/25/26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2420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61BEF0D-F0BB-DE4B-95CE-6DB70DBA9567}" type="datetimeFigureOut">
              <a:rPr lang="en-US" smtClean="0"/>
              <a:pPr/>
              <a:t>4/25/26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35519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61BEF0D-F0BB-DE4B-95CE-6DB70DBA9567}" type="datetimeFigureOut">
              <a:rPr lang="en-US" smtClean="0"/>
              <a:pPr/>
              <a:t>4/25/26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91673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4/25/26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17543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4/25/26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94185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272593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3319170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747575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4/25/26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556102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4/25/26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785678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141147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09153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61BEF0D-F0BB-DE4B-95CE-6DB70DBA9567}" type="datetimeFigureOut">
              <a:rPr lang="en-US" smtClean="0"/>
              <a:pPr/>
              <a:t>4/25/26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74217932"/>
      </p:ext>
    </p:extLst>
  </p:cSld>
  <p:clrMap bg1="dk1" tx1="lt1" bg2="dk2" tx2="lt2" accent1="accent1" accent2="accent2" accent3="accent3" accent4="accent4" accent5="accent5" accent6="accent6" hlink="hlink" folHlink="folHlink"/>
  <p:sldLayoutIdLst>
    <p:sldLayoutId id="2147484218" r:id="rId1"/>
    <p:sldLayoutId id="2147484219" r:id="rId2"/>
    <p:sldLayoutId id="2147484220" r:id="rId3"/>
    <p:sldLayoutId id="2147484221" r:id="rId4"/>
    <p:sldLayoutId id="2147484222" r:id="rId5"/>
    <p:sldLayoutId id="2147484223" r:id="rId6"/>
    <p:sldLayoutId id="2147484224" r:id="rId7"/>
    <p:sldLayoutId id="2147484225" r:id="rId8"/>
    <p:sldLayoutId id="2147484226" r:id="rId9"/>
    <p:sldLayoutId id="2147484227" r:id="rId10"/>
    <p:sldLayoutId id="2147484228" r:id="rId11"/>
    <p:sldLayoutId id="2147484229" r:id="rId12"/>
    <p:sldLayoutId id="2147484230" r:id="rId13"/>
    <p:sldLayoutId id="2147484231" r:id="rId14"/>
    <p:sldLayoutId id="2147484232" r:id="rId15"/>
    <p:sldLayoutId id="2147484233" r:id="rId16"/>
    <p:sldLayoutId id="2147484234"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6.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diagramColors" Target="../diagrams/colors1.xml"/><Relationship Id="rId3" Type="http://schemas.openxmlformats.org/officeDocument/2006/relationships/slideLayout" Target="../slideLayouts/slideLayout4.xml"/><Relationship Id="rId7" Type="http://schemas.openxmlformats.org/officeDocument/2006/relationships/image" Target="../media/image3.png"/><Relationship Id="rId12" Type="http://schemas.openxmlformats.org/officeDocument/2006/relationships/diagramQuickStyle" Target="../diagrams/quickStyle1.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2.png"/><Relationship Id="rId11" Type="http://schemas.openxmlformats.org/officeDocument/2006/relationships/diagramLayout" Target="../diagrams/layout1.xml"/><Relationship Id="rId5" Type="http://schemas.openxmlformats.org/officeDocument/2006/relationships/image" Target="../media/image1.jpeg"/><Relationship Id="rId15" Type="http://schemas.openxmlformats.org/officeDocument/2006/relationships/image" Target="../media/image6.png"/><Relationship Id="rId10" Type="http://schemas.openxmlformats.org/officeDocument/2006/relationships/diagramData" Target="../diagrams/data1.xml"/><Relationship Id="rId4" Type="http://schemas.openxmlformats.org/officeDocument/2006/relationships/notesSlide" Target="../notesSlides/notesSlide2.xml"/><Relationship Id="rId9" Type="http://schemas.openxmlformats.org/officeDocument/2006/relationships/image" Target="../media/image5.png"/><Relationship Id="rId14"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6.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6.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6.xml"/><Relationship Id="rId7" Type="http://schemas.openxmlformats.org/officeDocument/2006/relationships/image" Target="../media/image3.png"/><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2.png"/><Relationship Id="rId5" Type="http://schemas.openxmlformats.org/officeDocument/2006/relationships/image" Target="../media/image1.jpeg"/><Relationship Id="rId10" Type="http://schemas.openxmlformats.org/officeDocument/2006/relationships/image" Target="../media/image6.png"/><Relationship Id="rId4" Type="http://schemas.openxmlformats.org/officeDocument/2006/relationships/notesSlide" Target="../notesSlides/notesSlide6.xml"/><Relationship Id="rId9"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slideLayout" Target="../slideLayouts/slideLayout2.xml"/><Relationship Id="rId7" Type="http://schemas.openxmlformats.org/officeDocument/2006/relationships/diagramQuickStyle" Target="../diagrams/quickStyle2.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diagramLayout" Target="../diagrams/layout2.xml"/><Relationship Id="rId5" Type="http://schemas.openxmlformats.org/officeDocument/2006/relationships/diagramData" Target="../diagrams/data2.xml"/><Relationship Id="rId10" Type="http://schemas.openxmlformats.org/officeDocument/2006/relationships/image" Target="../media/image6.png"/><Relationship Id="rId4" Type="http://schemas.openxmlformats.org/officeDocument/2006/relationships/notesSlide" Target="../notesSlides/notesSlide7.xml"/><Relationship Id="rId9" Type="http://schemas.microsoft.com/office/2007/relationships/diagramDrawing" Target="../diagrams/drawing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6.xml"/><Relationship Id="rId7" Type="http://schemas.openxmlformats.org/officeDocument/2006/relationships/image" Target="../media/image10.png"/><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hyperlink" Target="https://freepngimg.com/png/29455-computer-monitor-screen" TargetMode="External"/><Relationship Id="rId5" Type="http://schemas.openxmlformats.org/officeDocument/2006/relationships/image" Target="../media/image9.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5" Type="http://schemas.openxmlformats.org/officeDocument/2006/relationships/image" Target="../media/image6.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4.xml"/><Relationship Id="rId7" Type="http://schemas.openxmlformats.org/officeDocument/2006/relationships/image" Target="../media/image3.png"/><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2.png"/><Relationship Id="rId11" Type="http://schemas.openxmlformats.org/officeDocument/2006/relationships/image" Target="../media/image6.png"/><Relationship Id="rId5" Type="http://schemas.openxmlformats.org/officeDocument/2006/relationships/image" Target="../media/image1.jpeg"/><Relationship Id="rId10" Type="http://schemas.openxmlformats.org/officeDocument/2006/relationships/image" Target="../media/image12.png"/><Relationship Id="rId4" Type="http://schemas.openxmlformats.org/officeDocument/2006/relationships/notesSlide" Target="../notesSlides/notesSlide13.xm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2000"/>
                <a:hueMod val="96000"/>
                <a:satMod val="128000"/>
                <a:lumMod val="114000"/>
              </a:schemeClr>
            </a:gs>
            <a:gs pos="100000">
              <a:schemeClr val="bg2">
                <a:shade val="62000"/>
                <a:hueMod val="100000"/>
                <a:satMod val="134000"/>
                <a:lumMod val="56000"/>
              </a:schemeClr>
            </a:gs>
          </a:gsLst>
          <a:path path="circle">
            <a:fillToRect l="45000" t="65000" r="125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E27238C-8EAF-4098-86E6-7723B7DAE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0" name="Freeform 36">
            <a:extLst>
              <a:ext uri="{FF2B5EF4-FFF2-40B4-BE49-F238E27FC236}">
                <a16:creationId xmlns:a16="http://schemas.microsoft.com/office/drawing/2014/main" id="{992F97B1-1891-4FCC-9E5F-BA97EDB4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12" name="Freeform: Shape 11">
            <a:extLst>
              <a:ext uri="{FF2B5EF4-FFF2-40B4-BE49-F238E27FC236}">
                <a16:creationId xmlns:a16="http://schemas.microsoft.com/office/drawing/2014/main" id="{78C6C821-FEE1-4EB6-9590-C021440C7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Subtitle 2">
            <a:extLst>
              <a:ext uri="{FF2B5EF4-FFF2-40B4-BE49-F238E27FC236}">
                <a16:creationId xmlns:a16="http://schemas.microsoft.com/office/drawing/2014/main" id="{796FA276-9F9B-FFFE-F7ED-DF8360282207}"/>
              </a:ext>
            </a:extLst>
          </p:cNvPr>
          <p:cNvSpPr>
            <a:spLocks noGrp="1"/>
          </p:cNvSpPr>
          <p:nvPr>
            <p:ph type="subTitle" idx="1"/>
          </p:nvPr>
        </p:nvSpPr>
        <p:spPr>
          <a:xfrm>
            <a:off x="1154955" y="4777380"/>
            <a:ext cx="6458419" cy="861420"/>
          </a:xfrm>
        </p:spPr>
        <p:txBody>
          <a:bodyPr>
            <a:normAutofit/>
          </a:bodyPr>
          <a:lstStyle/>
          <a:p>
            <a:r>
              <a:rPr lang="en-US" dirty="0">
                <a:solidFill>
                  <a:schemeClr val="tx1">
                    <a:lumMod val="85000"/>
                    <a:lumOff val="15000"/>
                  </a:schemeClr>
                </a:solidFill>
              </a:rPr>
              <a:t>Nabrittney Douglas</a:t>
            </a:r>
          </a:p>
          <a:p>
            <a:endParaRPr lang="en-US" dirty="0">
              <a:solidFill>
                <a:schemeClr val="tx1">
                  <a:lumMod val="85000"/>
                  <a:lumOff val="15000"/>
                </a:schemeClr>
              </a:solidFill>
            </a:endParaRPr>
          </a:p>
        </p:txBody>
      </p:sp>
      <p:sp>
        <p:nvSpPr>
          <p:cNvPr id="2" name="Title 1">
            <a:extLst>
              <a:ext uri="{FF2B5EF4-FFF2-40B4-BE49-F238E27FC236}">
                <a16:creationId xmlns:a16="http://schemas.microsoft.com/office/drawing/2014/main" id="{5DC4C455-9AD8-E4C1-3887-07EF137668F0}"/>
              </a:ext>
            </a:extLst>
          </p:cNvPr>
          <p:cNvSpPr>
            <a:spLocks noGrp="1"/>
          </p:cNvSpPr>
          <p:nvPr>
            <p:ph type="ctrTitle"/>
          </p:nvPr>
        </p:nvSpPr>
        <p:spPr>
          <a:xfrm>
            <a:off x="1154955" y="1775012"/>
            <a:ext cx="6458419" cy="3002369"/>
          </a:xfrm>
        </p:spPr>
        <p:txBody>
          <a:bodyPr>
            <a:normAutofit/>
          </a:bodyPr>
          <a:lstStyle/>
          <a:p>
            <a:pPr>
              <a:lnSpc>
                <a:spcPct val="90000"/>
              </a:lnSpc>
            </a:pPr>
            <a:r>
              <a:rPr lang="en-US" sz="5000" b="1" dirty="0">
                <a:latin typeface="Arial" panose="020B0604020202020204" pitchFamily="34" charset="0"/>
                <a:cs typeface="Arial" panose="020B0604020202020204" pitchFamily="34" charset="0"/>
              </a:rPr>
              <a:t>Transferring ESL Data Across Platforms</a:t>
            </a:r>
            <a:r>
              <a:rPr lang="en-US" sz="5000" dirty="0">
                <a:latin typeface="Arial" panose="020B0604020202020204" pitchFamily="34" charset="0"/>
                <a:cs typeface="Arial" panose="020B0604020202020204" pitchFamily="34" charset="0"/>
              </a:rPr>
              <a:t>: </a:t>
            </a:r>
            <a:r>
              <a:rPr lang="en-US" sz="3600" dirty="0">
                <a:latin typeface="Arial" panose="020B0604020202020204" pitchFamily="34" charset="0"/>
                <a:cs typeface="Arial" panose="020B0604020202020204" pitchFamily="34" charset="0"/>
              </a:rPr>
              <a:t>Accurately Completing ILPs</a:t>
            </a:r>
          </a:p>
        </p:txBody>
      </p:sp>
      <p:sp>
        <p:nvSpPr>
          <p:cNvPr id="14" name="Rectangle 13">
            <a:extLst>
              <a:ext uri="{FF2B5EF4-FFF2-40B4-BE49-F238E27FC236}">
                <a16:creationId xmlns:a16="http://schemas.microsoft.com/office/drawing/2014/main" id="{B61A74B3-E247-44D4-8C48-FAE8E205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3" name="Audio 32">
            <a:extLst>
              <a:ext uri="{FF2B5EF4-FFF2-40B4-BE49-F238E27FC236}">
                <a16:creationId xmlns:a16="http://schemas.microsoft.com/office/drawing/2014/main" id="{5C10C102-E36D-D9BD-92C5-0E64B0AFFB8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1238961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20606"/>
    </mc:Choice>
    <mc:Fallback>
      <p:transition spd="slow" advTm="2060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5">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594FC8B-8CD2-407F-94F1-9C71F5AEC2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DBABC971-8D40-4A4F-AC60-28B9172789B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B9C04DC5-313B-4FE4-B868-5672A3764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7" name="Picture 16">
            <a:extLst>
              <a:ext uri="{FF2B5EF4-FFF2-40B4-BE49-F238E27FC236}">
                <a16:creationId xmlns:a16="http://schemas.microsoft.com/office/drawing/2014/main" id="{791AE23E-90C9-4963-96E2-8DADBFC3BC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8">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C5F93E90-4379-4AAC-B021-E5FA6D974AE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9">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21" name="Rectangle 20">
            <a:extLst>
              <a:ext uri="{FF2B5EF4-FFF2-40B4-BE49-F238E27FC236}">
                <a16:creationId xmlns:a16="http://schemas.microsoft.com/office/drawing/2014/main" id="{329FDD08-42D8-4AFF-90E5-5DAA5BC4C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7C04B81-A419-5A95-D733-A7C6A0AAE103}"/>
              </a:ext>
            </a:extLst>
          </p:cNvPr>
          <p:cNvSpPr>
            <a:spLocks noGrp="1"/>
          </p:cNvSpPr>
          <p:nvPr>
            <p:ph type="title"/>
          </p:nvPr>
        </p:nvSpPr>
        <p:spPr>
          <a:xfrm>
            <a:off x="648931" y="629266"/>
            <a:ext cx="4166510" cy="1622321"/>
          </a:xfrm>
        </p:spPr>
        <p:txBody>
          <a:bodyPr vert="horz" lIns="91440" tIns="45720" rIns="91440" bIns="45720" rtlCol="0" anchor="t">
            <a:normAutofit/>
          </a:bodyPr>
          <a:lstStyle/>
          <a:p>
            <a:pPr>
              <a:lnSpc>
                <a:spcPct val="90000"/>
              </a:lnSpc>
            </a:pPr>
            <a:r>
              <a:rPr lang="en-US" sz="3600" dirty="0"/>
              <a:t>Statement of Instructional Opportunity</a:t>
            </a:r>
          </a:p>
        </p:txBody>
      </p:sp>
      <p:sp>
        <p:nvSpPr>
          <p:cNvPr id="4" name="Content Placeholder 3">
            <a:extLst>
              <a:ext uri="{FF2B5EF4-FFF2-40B4-BE49-F238E27FC236}">
                <a16:creationId xmlns:a16="http://schemas.microsoft.com/office/drawing/2014/main" id="{5C0B7425-213D-DB7C-93C8-6DEB90310ADD}"/>
              </a:ext>
            </a:extLst>
          </p:cNvPr>
          <p:cNvSpPr>
            <a:spLocks noGrp="1"/>
          </p:cNvSpPr>
          <p:nvPr>
            <p:ph sz="half" idx="1"/>
          </p:nvPr>
        </p:nvSpPr>
        <p:spPr>
          <a:xfrm>
            <a:off x="648931" y="2438400"/>
            <a:ext cx="4166509" cy="3785419"/>
          </a:xfrm>
        </p:spPr>
        <p:txBody>
          <a:bodyPr vert="horz" lIns="91440" tIns="45720" rIns="91440" bIns="45720" rtlCol="0">
            <a:normAutofit/>
          </a:bodyPr>
          <a:lstStyle/>
          <a:p>
            <a:pPr marL="0" indent="0" algn="ctr">
              <a:buNone/>
            </a:pPr>
            <a:r>
              <a:rPr lang="en-US" sz="2000" b="1" dirty="0"/>
              <a:t>The Problem </a:t>
            </a:r>
          </a:p>
          <a:p>
            <a:r>
              <a:rPr lang="en-US" dirty="0"/>
              <a:t>ESL teachers are not consistently completing ILPs or transferring important data from an old data management platform to a new one. </a:t>
            </a:r>
          </a:p>
          <a:p>
            <a:endParaRPr lang="en-US" dirty="0"/>
          </a:p>
        </p:txBody>
      </p:sp>
      <p:sp>
        <p:nvSpPr>
          <p:cNvPr id="23" name="Freeform 31">
            <a:extLst>
              <a:ext uri="{FF2B5EF4-FFF2-40B4-BE49-F238E27FC236}">
                <a16:creationId xmlns:a16="http://schemas.microsoft.com/office/drawing/2014/main" id="{D6CEF2A9-EF08-4FB3-AFFB-C5F77AB6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5" name="Rectangle 24">
            <a:extLst>
              <a:ext uri="{FF2B5EF4-FFF2-40B4-BE49-F238E27FC236}">
                <a16:creationId xmlns:a16="http://schemas.microsoft.com/office/drawing/2014/main" id="{4109C3C2-C0A8-4559-8462-8007573DF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3992" y="0"/>
            <a:ext cx="609842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5">
            <a:extLst>
              <a:ext uri="{FF2B5EF4-FFF2-40B4-BE49-F238E27FC236}">
                <a16:creationId xmlns:a16="http://schemas.microsoft.com/office/drawing/2014/main" id="{4C535542-B72A-4DE0-BE5A-5EA00508C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45057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en-US"/>
          </a:p>
        </p:txBody>
      </p:sp>
      <p:sp>
        <p:nvSpPr>
          <p:cNvPr id="29" name="Rectangle 28">
            <a:extLst>
              <a:ext uri="{FF2B5EF4-FFF2-40B4-BE49-F238E27FC236}">
                <a16:creationId xmlns:a16="http://schemas.microsoft.com/office/drawing/2014/main" id="{11DF0705-615B-4CF3-A16F-8C14680D8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6" name="Content Placeholder 5">
            <a:extLst>
              <a:ext uri="{FF2B5EF4-FFF2-40B4-BE49-F238E27FC236}">
                <a16:creationId xmlns:a16="http://schemas.microsoft.com/office/drawing/2014/main" id="{0B87A29B-18B6-6E08-869A-4EE33AD228D5}"/>
              </a:ext>
            </a:extLst>
          </p:cNvPr>
          <p:cNvGraphicFramePr>
            <a:graphicFrameLocks noGrp="1"/>
          </p:cNvGraphicFramePr>
          <p:nvPr>
            <p:ph sz="half" idx="2"/>
            <p:extLst>
              <p:ext uri="{D42A27DB-BD31-4B8C-83A1-F6EECF244321}">
                <p14:modId xmlns:p14="http://schemas.microsoft.com/office/powerpoint/2010/main" val="3335764584"/>
              </p:ext>
            </p:extLst>
          </p:nvPr>
        </p:nvGraphicFramePr>
        <p:xfrm>
          <a:off x="6093992" y="1026809"/>
          <a:ext cx="5852160" cy="4306824"/>
        </p:xfrm>
        <a:graphic>
          <a:graphicData uri="http://schemas.openxmlformats.org/drawingml/2006/table">
            <a:tbl>
              <a:tblPr firstRow="1" bandRow="1">
                <a:tableStyleId>{EB9631B5-78F2-41C9-869B-9F39066F8104}</a:tableStyleId>
              </a:tblPr>
              <a:tblGrid>
                <a:gridCol w="2662766">
                  <a:extLst>
                    <a:ext uri="{9D8B030D-6E8A-4147-A177-3AD203B41FA5}">
                      <a16:colId xmlns:a16="http://schemas.microsoft.com/office/drawing/2014/main" val="3588405484"/>
                    </a:ext>
                  </a:extLst>
                </a:gridCol>
                <a:gridCol w="3189394">
                  <a:extLst>
                    <a:ext uri="{9D8B030D-6E8A-4147-A177-3AD203B41FA5}">
                      <a16:colId xmlns:a16="http://schemas.microsoft.com/office/drawing/2014/main" val="1657919979"/>
                    </a:ext>
                  </a:extLst>
                </a:gridCol>
              </a:tblGrid>
              <a:tr h="713194">
                <a:tc>
                  <a:txBody>
                    <a:bodyPr/>
                    <a:lstStyle/>
                    <a:p>
                      <a:r>
                        <a:rPr lang="en-US" sz="2000" dirty="0"/>
                        <a:t>Current Performance</a:t>
                      </a:r>
                    </a:p>
                  </a:txBody>
                  <a:tcPr marL="103098" marR="103098" marT="51549" marB="51549"/>
                </a:tc>
                <a:tc>
                  <a:txBody>
                    <a:bodyPr/>
                    <a:lstStyle/>
                    <a:p>
                      <a:r>
                        <a:rPr lang="en-US" sz="2000" dirty="0"/>
                        <a:t>Desired Performance</a:t>
                      </a:r>
                    </a:p>
                  </a:txBody>
                  <a:tcPr marL="103098" marR="103098" marT="51549" marB="51549"/>
                </a:tc>
                <a:extLst>
                  <a:ext uri="{0D108BD9-81ED-4DB2-BD59-A6C34878D82A}">
                    <a16:rowId xmlns:a16="http://schemas.microsoft.com/office/drawing/2014/main" val="2170472358"/>
                  </a:ext>
                </a:extLst>
              </a:tr>
              <a:tr h="91947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effectLst/>
                        </a:rPr>
                        <a:t>Missing or duplicated student records</a:t>
                      </a:r>
                    </a:p>
                    <a:p>
                      <a:endParaRPr lang="en-US" sz="1600" dirty="0"/>
                    </a:p>
                  </a:txBody>
                  <a:tcPr marL="103098" marR="103098" marT="51549" marB="51549"/>
                </a:tc>
                <a:tc>
                  <a:txBody>
                    <a:bodyPr/>
                    <a:lstStyle/>
                    <a:p>
                      <a:r>
                        <a:rPr lang="en-US" sz="1600" dirty="0"/>
                        <a:t>Filter and identify all students </a:t>
                      </a:r>
                    </a:p>
                  </a:txBody>
                  <a:tcPr marL="103098" marR="103098" marT="51549" marB="51549"/>
                </a:tc>
                <a:extLst>
                  <a:ext uri="{0D108BD9-81ED-4DB2-BD59-A6C34878D82A}">
                    <a16:rowId xmlns:a16="http://schemas.microsoft.com/office/drawing/2014/main" val="1629092175"/>
                  </a:ext>
                </a:extLst>
              </a:tr>
              <a:tr h="835199">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Exporting incomplete data</a:t>
                      </a:r>
                    </a:p>
                    <a:p>
                      <a:endParaRPr lang="en-US" sz="1600" dirty="0"/>
                    </a:p>
                  </a:txBody>
                  <a:tcPr marL="103098" marR="103098" marT="51549" marB="51549"/>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Export all student data</a:t>
                      </a:r>
                    </a:p>
                  </a:txBody>
                  <a:tcPr marL="103098" marR="103098" marT="51549" marB="51549"/>
                </a:tc>
                <a:extLst>
                  <a:ext uri="{0D108BD9-81ED-4DB2-BD59-A6C34878D82A}">
                    <a16:rowId xmlns:a16="http://schemas.microsoft.com/office/drawing/2014/main" val="3676514669"/>
                  </a:ext>
                </a:extLst>
              </a:tr>
              <a:tr h="919477">
                <a:tc>
                  <a:txBody>
                    <a:bodyPr/>
                    <a:lstStyle/>
                    <a:p>
                      <a:r>
                        <a:rPr lang="en-US" sz="1600" dirty="0"/>
                        <a:t>Incomplete ILPs</a:t>
                      </a:r>
                    </a:p>
                  </a:txBody>
                  <a:tcPr marL="103098" marR="103098" marT="51549" marB="51549"/>
                </a:tc>
                <a:tc>
                  <a:txBody>
                    <a:bodyPr/>
                    <a:lstStyle/>
                    <a:p>
                      <a:r>
                        <a:rPr lang="en-US" sz="1600" dirty="0"/>
                        <a:t>Complete all tiles of student ILPs </a:t>
                      </a:r>
                    </a:p>
                  </a:txBody>
                  <a:tcPr marL="103098" marR="103098" marT="51549" marB="51549"/>
                </a:tc>
                <a:extLst>
                  <a:ext uri="{0D108BD9-81ED-4DB2-BD59-A6C34878D82A}">
                    <a16:rowId xmlns:a16="http://schemas.microsoft.com/office/drawing/2014/main" val="3773603882"/>
                  </a:ext>
                </a:extLst>
              </a:tr>
              <a:tr h="91947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effectLst/>
                        </a:rPr>
                        <a:t>Failure to check accuracy after transfer</a:t>
                      </a:r>
                    </a:p>
                    <a:p>
                      <a:endParaRPr lang="en-US" sz="1600" dirty="0"/>
                    </a:p>
                  </a:txBody>
                  <a:tcPr marL="103098" marR="103098" marT="51549" marB="51549"/>
                </a:tc>
                <a:tc>
                  <a:txBody>
                    <a:bodyPr/>
                    <a:lstStyle/>
                    <a:p>
                      <a:r>
                        <a:rPr lang="en-US" sz="1600" dirty="0"/>
                        <a:t>Verify the transfer of students and ILP completion using tracking spreadsheet</a:t>
                      </a:r>
                    </a:p>
                  </a:txBody>
                  <a:tcPr marL="103098" marR="103098" marT="51549" marB="51549"/>
                </a:tc>
                <a:extLst>
                  <a:ext uri="{0D108BD9-81ED-4DB2-BD59-A6C34878D82A}">
                    <a16:rowId xmlns:a16="http://schemas.microsoft.com/office/drawing/2014/main" val="548200675"/>
                  </a:ext>
                </a:extLst>
              </a:tr>
            </a:tbl>
          </a:graphicData>
        </a:graphic>
      </p:graphicFrame>
      <p:graphicFrame>
        <p:nvGraphicFramePr>
          <p:cNvPr id="8" name="Diagram 7">
            <a:extLst>
              <a:ext uri="{FF2B5EF4-FFF2-40B4-BE49-F238E27FC236}">
                <a16:creationId xmlns:a16="http://schemas.microsoft.com/office/drawing/2014/main" id="{FE02CC32-1436-9E4B-37CD-1D2C2F71EBDB}"/>
              </a:ext>
            </a:extLst>
          </p:cNvPr>
          <p:cNvGraphicFramePr/>
          <p:nvPr>
            <p:extLst>
              <p:ext uri="{D42A27DB-BD31-4B8C-83A1-F6EECF244321}">
                <p14:modId xmlns:p14="http://schemas.microsoft.com/office/powerpoint/2010/main" val="2771642534"/>
              </p:ext>
            </p:extLst>
          </p:nvPr>
        </p:nvGraphicFramePr>
        <p:xfrm>
          <a:off x="6093992" y="5626249"/>
          <a:ext cx="4513048" cy="1200329"/>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pic>
        <p:nvPicPr>
          <p:cNvPr id="31" name="Audio 30">
            <a:extLst>
              <a:ext uri="{FF2B5EF4-FFF2-40B4-BE49-F238E27FC236}">
                <a16:creationId xmlns:a16="http://schemas.microsoft.com/office/drawing/2014/main" id="{52A7441A-A871-59EB-ADAE-1E481089B43C}"/>
              </a:ext>
            </a:extLst>
          </p:cNvPr>
          <p:cNvPicPr>
            <a:picLocks noChangeAspect="1"/>
          </p:cNvPicPr>
          <p:nvPr>
            <a:audioFile r:link="rId2"/>
            <p:extLst>
              <p:ext uri="{DAA4B4D4-6D71-4841-9C94-3DE7FCFB9230}">
                <p14:media xmlns:p14="http://schemas.microsoft.com/office/powerpoint/2010/main" r:embed="rId1"/>
              </p:ext>
            </p:extLst>
          </p:nvPr>
        </p:nvPicPr>
        <p:blipFill>
          <a:blip r:embed="rId1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35091232"/>
      </p:ext>
    </p:extLst>
  </p:cSld>
  <p:clrMapOvr>
    <a:masterClrMapping/>
  </p:clrMapOvr>
  <mc:AlternateContent xmlns:mc="http://schemas.openxmlformats.org/markup-compatibility/2006">
    <mc:Choice xmlns:p14="http://schemas.microsoft.com/office/powerpoint/2010/main" Requires="p14">
      <p:transition spd="slow" p14:dur="2000" advTm="47899"/>
    </mc:Choice>
    <mc:Fallback>
      <p:transition spd="slow" advTm="478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1"/>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79E76-ED4C-D846-5DC8-019464117EE6}"/>
              </a:ext>
            </a:extLst>
          </p:cNvPr>
          <p:cNvSpPr>
            <a:spLocks noGrp="1"/>
          </p:cNvSpPr>
          <p:nvPr>
            <p:ph type="title"/>
          </p:nvPr>
        </p:nvSpPr>
        <p:spPr/>
        <p:txBody>
          <a:bodyPr/>
          <a:lstStyle/>
          <a:p>
            <a:r>
              <a:rPr lang="en-US" dirty="0"/>
              <a:t>Training Format &amp; Logistics as Aligned with Learner Need</a:t>
            </a:r>
          </a:p>
        </p:txBody>
      </p:sp>
      <p:sp>
        <p:nvSpPr>
          <p:cNvPr id="3" name="Content Placeholder 2">
            <a:extLst>
              <a:ext uri="{FF2B5EF4-FFF2-40B4-BE49-F238E27FC236}">
                <a16:creationId xmlns:a16="http://schemas.microsoft.com/office/drawing/2014/main" id="{63A151A3-3E5F-5A24-ADC4-81CFADBACC83}"/>
              </a:ext>
            </a:extLst>
          </p:cNvPr>
          <p:cNvSpPr>
            <a:spLocks noGrp="1"/>
          </p:cNvSpPr>
          <p:nvPr>
            <p:ph sz="half" idx="1"/>
          </p:nvPr>
        </p:nvSpPr>
        <p:spPr/>
        <p:txBody>
          <a:bodyPr>
            <a:normAutofit fontScale="92500" lnSpcReduction="10000"/>
          </a:bodyPr>
          <a:lstStyle/>
          <a:p>
            <a:pPr marL="0" indent="0" algn="ctr">
              <a:buNone/>
            </a:pPr>
            <a:r>
              <a:rPr lang="en-US" sz="2200" b="1" dirty="0"/>
              <a:t>Learner Profile</a:t>
            </a:r>
          </a:p>
          <a:p>
            <a:r>
              <a:rPr lang="en-US" dirty="0"/>
              <a:t>9 ESL Teachers (all have ESL experience)</a:t>
            </a:r>
          </a:p>
          <a:p>
            <a:r>
              <a:rPr lang="en-US" dirty="0"/>
              <a:t>Prior experience using data management systems </a:t>
            </a:r>
            <a:r>
              <a:rPr lang="en-US" dirty="0" err="1"/>
              <a:t>ELLevation</a:t>
            </a:r>
            <a:r>
              <a:rPr lang="en-US" dirty="0"/>
              <a:t> and TN-Pulse</a:t>
            </a:r>
          </a:p>
          <a:p>
            <a:r>
              <a:rPr lang="en-US" dirty="0"/>
              <a:t>Prior Knowledge of ESL program requirements</a:t>
            </a:r>
          </a:p>
          <a:p>
            <a:r>
              <a:rPr lang="en-US" dirty="0"/>
              <a:t>Prefers self-paced training, job aid/handout, and other visual aids </a:t>
            </a:r>
          </a:p>
          <a:p>
            <a:r>
              <a:rPr lang="en-US" dirty="0"/>
              <a:t>Problems sorting and identifying students in </a:t>
            </a:r>
            <a:r>
              <a:rPr lang="en-US" dirty="0" err="1"/>
              <a:t>ELLevation</a:t>
            </a:r>
            <a:r>
              <a:rPr lang="en-US" dirty="0"/>
              <a:t> and navigating TN-Pulse to create ILPs.</a:t>
            </a:r>
          </a:p>
          <a:p>
            <a:pPr marL="0" indent="0">
              <a:buNone/>
            </a:pPr>
            <a:r>
              <a:rPr lang="en-US" dirty="0"/>
              <a:t> </a:t>
            </a:r>
          </a:p>
          <a:p>
            <a:endParaRPr lang="en-US" dirty="0"/>
          </a:p>
        </p:txBody>
      </p:sp>
      <p:sp>
        <p:nvSpPr>
          <p:cNvPr id="4" name="Content Placeholder 3">
            <a:extLst>
              <a:ext uri="{FF2B5EF4-FFF2-40B4-BE49-F238E27FC236}">
                <a16:creationId xmlns:a16="http://schemas.microsoft.com/office/drawing/2014/main" id="{695C0FC1-4AEA-ED9A-409D-EA698F75D203}"/>
              </a:ext>
            </a:extLst>
          </p:cNvPr>
          <p:cNvSpPr>
            <a:spLocks noGrp="1"/>
          </p:cNvSpPr>
          <p:nvPr>
            <p:ph sz="half" idx="2"/>
          </p:nvPr>
        </p:nvSpPr>
        <p:spPr/>
        <p:txBody>
          <a:bodyPr>
            <a:normAutofit fontScale="92500" lnSpcReduction="10000"/>
          </a:bodyPr>
          <a:lstStyle/>
          <a:p>
            <a:pPr marL="0" indent="0" algn="ctr">
              <a:buNone/>
            </a:pPr>
            <a:r>
              <a:rPr lang="en-US" sz="2200" b="1" dirty="0"/>
              <a:t>Need Response</a:t>
            </a:r>
          </a:p>
          <a:p>
            <a:r>
              <a:rPr lang="en-US" dirty="0"/>
              <a:t>Asynchronous scenario-based training </a:t>
            </a:r>
          </a:p>
          <a:p>
            <a:r>
              <a:rPr lang="en-US" dirty="0"/>
              <a:t>3 self-paced modules</a:t>
            </a:r>
          </a:p>
          <a:p>
            <a:r>
              <a:rPr lang="en-US" dirty="0"/>
              <a:t>A step-by-step guide/handout</a:t>
            </a:r>
          </a:p>
          <a:p>
            <a:r>
              <a:rPr lang="en-US" dirty="0"/>
              <a:t>Video, transferring student data from one platform to another. </a:t>
            </a:r>
            <a:endParaRPr lang="en-US" b="1" dirty="0"/>
          </a:p>
          <a:p>
            <a:endParaRPr lang="en-US" b="1" dirty="0"/>
          </a:p>
          <a:p>
            <a:endParaRPr lang="en-US" dirty="0"/>
          </a:p>
          <a:p>
            <a:endParaRPr lang="en-US" dirty="0"/>
          </a:p>
        </p:txBody>
      </p:sp>
      <p:pic>
        <p:nvPicPr>
          <p:cNvPr id="16" name="Audio 15">
            <a:extLst>
              <a:ext uri="{FF2B5EF4-FFF2-40B4-BE49-F238E27FC236}">
                <a16:creationId xmlns:a16="http://schemas.microsoft.com/office/drawing/2014/main" id="{1DFBF378-C499-862E-5011-1058D890568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521564530"/>
      </p:ext>
    </p:extLst>
  </p:cSld>
  <p:clrMapOvr>
    <a:masterClrMapping/>
  </p:clrMapOvr>
  <mc:AlternateContent xmlns:mc="http://schemas.openxmlformats.org/markup-compatibility/2006">
    <mc:Choice xmlns:p14="http://schemas.microsoft.com/office/powerpoint/2010/main" Requires="p14">
      <p:transition spd="slow" p14:dur="2000" advTm="54918"/>
    </mc:Choice>
    <mc:Fallback>
      <p:transition spd="slow" advTm="549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8B9538A-2A89-47DD-996C-7D2BE2AB6C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F9290C-30B9-70D4-B73F-DA638F4644C3}"/>
              </a:ext>
            </a:extLst>
          </p:cNvPr>
          <p:cNvSpPr>
            <a:spLocks noGrp="1"/>
          </p:cNvSpPr>
          <p:nvPr>
            <p:ph type="title"/>
          </p:nvPr>
        </p:nvSpPr>
        <p:spPr>
          <a:xfrm>
            <a:off x="643855" y="1447800"/>
            <a:ext cx="3108626" cy="4572000"/>
          </a:xfrm>
        </p:spPr>
        <p:txBody>
          <a:bodyPr anchor="ctr">
            <a:normAutofit/>
          </a:bodyPr>
          <a:lstStyle/>
          <a:p>
            <a:r>
              <a:rPr lang="en-US" sz="3600">
                <a:solidFill>
                  <a:srgbClr val="EBEBEB"/>
                </a:solidFill>
              </a:rPr>
              <a:t>Objectives </a:t>
            </a:r>
          </a:p>
        </p:txBody>
      </p:sp>
      <p:sp>
        <p:nvSpPr>
          <p:cNvPr id="12" name="Freeform: Shape 11">
            <a:extLst>
              <a:ext uri="{FF2B5EF4-FFF2-40B4-BE49-F238E27FC236}">
                <a16:creationId xmlns:a16="http://schemas.microsoft.com/office/drawing/2014/main" id="{E625979B-5325-4898-8EF9-5C174B192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1">
            <a:extLst>
              <a:ext uri="{FF2B5EF4-FFF2-40B4-BE49-F238E27FC236}">
                <a16:creationId xmlns:a16="http://schemas.microsoft.com/office/drawing/2014/main" id="{34B22E2B-30D5-47A4-97C5-091EA1AB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16" name="Rectangle 15">
            <a:extLst>
              <a:ext uri="{FF2B5EF4-FFF2-40B4-BE49-F238E27FC236}">
                <a16:creationId xmlns:a16="http://schemas.microsoft.com/office/drawing/2014/main" id="{9B6DA3CD-A002-40ED-8194-B4E637BD76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4">
            <a:extLst>
              <a:ext uri="{FF2B5EF4-FFF2-40B4-BE49-F238E27FC236}">
                <a16:creationId xmlns:a16="http://schemas.microsoft.com/office/drawing/2014/main" id="{96DA739F-0E92-4667-94E9-24A0900A55D7}"/>
              </a:ext>
            </a:extLst>
          </p:cNvPr>
          <p:cNvGraphicFramePr>
            <a:graphicFrameLocks noGrp="1"/>
          </p:cNvGraphicFramePr>
          <p:nvPr>
            <p:ph idx="1"/>
            <p:extLst>
              <p:ext uri="{D42A27DB-BD31-4B8C-83A1-F6EECF244321}">
                <p14:modId xmlns:p14="http://schemas.microsoft.com/office/powerpoint/2010/main" val="3094946939"/>
              </p:ext>
              <p:ext uri="{E7BDC344-281C-4309-B0C6-D0EE65EED2A8}">
                <p202:designPr xmlns:p202="http://schemas.microsoft.com/office/powerpoint/2020/02/main">
                  <p202:designTagLst>
                    <p202:designTag name="ARCH:1:CLS" val="StackedSequentialRowTable"/>
                  </p202:designTagLst>
                </p202:designPr>
              </p:ext>
            </p:extLst>
          </p:nvPr>
        </p:nvGraphicFramePr>
        <p:xfrm>
          <a:off x="5048250" y="1447800"/>
          <a:ext cx="6496051" cy="4318483"/>
        </p:xfrm>
        <a:graphic>
          <a:graphicData uri="http://schemas.openxmlformats.org/drawingml/2006/table">
            <a:tbl>
              <a:tblPr firstRow="1" bandRow="1">
                <a:noFill/>
                <a:tableStyleId>{5C22544A-7EE6-4342-B048-85BDC9FD1C3A}</a:tableStyleId>
              </a:tblPr>
              <a:tblGrid>
                <a:gridCol w="928065">
                  <a:extLst>
                    <a:ext uri="{9D8B030D-6E8A-4147-A177-3AD203B41FA5}">
                      <a16:colId xmlns:a16="http://schemas.microsoft.com/office/drawing/2014/main" val="2572904212"/>
                    </a:ext>
                  </a:extLst>
                </a:gridCol>
                <a:gridCol w="5567986">
                  <a:extLst>
                    <a:ext uri="{9D8B030D-6E8A-4147-A177-3AD203B41FA5}">
                      <a16:colId xmlns:a16="http://schemas.microsoft.com/office/drawing/2014/main" val="3194609408"/>
                    </a:ext>
                  </a:extLst>
                </a:gridCol>
              </a:tblGrid>
              <a:tr h="2063784">
                <a:tc>
                  <a:txBody>
                    <a:bodyPr/>
                    <a:lstStyle/>
                    <a:p>
                      <a:pPr>
                        <a:buNone/>
                      </a:pPr>
                      <a:r>
                        <a:rPr lang="en-US" sz="4000" b="1" cap="none" spc="0" dirty="0">
                          <a:solidFill>
                            <a:schemeClr val="accent1"/>
                          </a:solidFill>
                        </a:rPr>
                        <a:t>01</a:t>
                      </a:r>
                    </a:p>
                  </a:txBody>
                  <a:tcPr marL="141743" marR="141743" marT="141743" marB="14174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lgn="l">
                        <a:buNone/>
                      </a:pPr>
                      <a:r>
                        <a:rPr lang="en-US" sz="1400" b="1" kern="1200" dirty="0">
                          <a:solidFill>
                            <a:schemeClr val="tx1"/>
                          </a:solidFill>
                          <a:effectLst/>
                          <a:latin typeface="+mn-lt"/>
                          <a:ea typeface="+mn-ea"/>
                          <a:cs typeface="+mn-cs"/>
                        </a:rPr>
                        <a:t>1a Given access to </a:t>
                      </a:r>
                      <a:r>
                        <a:rPr lang="en-US" sz="1400" b="1" kern="1200" dirty="0" err="1">
                          <a:solidFill>
                            <a:schemeClr val="tx1"/>
                          </a:solidFill>
                          <a:effectLst/>
                          <a:latin typeface="+mn-lt"/>
                          <a:ea typeface="+mn-ea"/>
                          <a:cs typeface="+mn-cs"/>
                        </a:rPr>
                        <a:t>ELLevation</a:t>
                      </a:r>
                      <a:r>
                        <a:rPr lang="en-US" sz="1400" b="1" kern="1200" dirty="0">
                          <a:solidFill>
                            <a:schemeClr val="tx1"/>
                          </a:solidFill>
                          <a:effectLst/>
                          <a:latin typeface="+mn-lt"/>
                          <a:ea typeface="+mn-ea"/>
                          <a:cs typeface="+mn-cs"/>
                        </a:rPr>
                        <a:t>, ESL teachers will learn how to filter and identify EL students on their caseload with 100% accuracy. </a:t>
                      </a:r>
                    </a:p>
                    <a:p>
                      <a:pPr algn="l">
                        <a:buNone/>
                      </a:pPr>
                      <a:endParaRPr lang="en-US" sz="1400" b="1" kern="1200" dirty="0">
                        <a:solidFill>
                          <a:schemeClr val="tx1"/>
                        </a:solidFill>
                        <a:effectLst/>
                        <a:latin typeface="+mn-lt"/>
                        <a:ea typeface="+mn-ea"/>
                        <a:cs typeface="+mn-cs"/>
                      </a:endParaRPr>
                    </a:p>
                    <a:p>
                      <a:pPr algn="l">
                        <a:buNone/>
                      </a:pPr>
                      <a:r>
                        <a:rPr lang="en-US" sz="1400" b="1" kern="1200" dirty="0">
                          <a:solidFill>
                            <a:schemeClr val="tx1"/>
                          </a:solidFill>
                          <a:effectLst/>
                          <a:latin typeface="+mn-lt"/>
                          <a:ea typeface="+mn-ea"/>
                          <a:cs typeface="+mn-cs"/>
                        </a:rPr>
                        <a:t>1b Teachers will demonstrate understanding of why accuracy is important.</a:t>
                      </a:r>
                      <a:r>
                        <a:rPr lang="en-US" sz="1400" dirty="0">
                          <a:solidFill>
                            <a:schemeClr val="tx1"/>
                          </a:solidFill>
                          <a:effectLst/>
                        </a:rPr>
                        <a:t> </a:t>
                      </a:r>
                      <a:endParaRPr lang="en-US" sz="1400" b="0" cap="none" spc="0" dirty="0">
                        <a:solidFill>
                          <a:schemeClr val="tx1"/>
                        </a:solidFill>
                      </a:endParaRPr>
                    </a:p>
                  </a:txBody>
                  <a:tcPr marL="141743" marR="141743" marT="141743" marB="141743"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4238130473"/>
                  </a:ext>
                </a:extLst>
              </a:tr>
              <a:tr h="1199383">
                <a:tc>
                  <a:txBody>
                    <a:bodyPr/>
                    <a:lstStyle/>
                    <a:p>
                      <a:pPr>
                        <a:buNone/>
                      </a:pPr>
                      <a:r>
                        <a:rPr lang="en-US" sz="4000" b="1" cap="none" spc="0">
                          <a:solidFill>
                            <a:schemeClr val="accent1"/>
                          </a:solidFill>
                        </a:rPr>
                        <a:t>02</a:t>
                      </a:r>
                    </a:p>
                  </a:txBody>
                  <a:tcPr marL="141743" marR="141743" marT="141743" marB="14174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US" sz="1400" b="1" kern="1200" dirty="0">
                          <a:solidFill>
                            <a:schemeClr val="tx1"/>
                          </a:solidFill>
                          <a:effectLst/>
                          <a:latin typeface="+mn-lt"/>
                          <a:ea typeface="+mn-ea"/>
                          <a:cs typeface="+mn-cs"/>
                        </a:rPr>
                        <a:t>Given access to TN-Pulse, ESL teachers will add identified EL students from </a:t>
                      </a:r>
                      <a:r>
                        <a:rPr lang="en-US" sz="1400" b="1" kern="1200" dirty="0" err="1">
                          <a:solidFill>
                            <a:schemeClr val="tx1"/>
                          </a:solidFill>
                          <a:effectLst/>
                          <a:latin typeface="+mn-lt"/>
                          <a:ea typeface="+mn-ea"/>
                          <a:cs typeface="+mn-cs"/>
                        </a:rPr>
                        <a:t>ELLevation</a:t>
                      </a:r>
                      <a:r>
                        <a:rPr lang="en-US" sz="1400" b="1" kern="1200" dirty="0">
                          <a:solidFill>
                            <a:schemeClr val="tx1"/>
                          </a:solidFill>
                          <a:effectLst/>
                          <a:latin typeface="+mn-lt"/>
                          <a:ea typeface="+mn-ea"/>
                          <a:cs typeface="+mn-cs"/>
                        </a:rPr>
                        <a:t> to their caseload with 100% accuracy. </a:t>
                      </a:r>
                      <a:endParaRPr lang="en-US" sz="1400" b="1" cap="none" spc="0" dirty="0">
                        <a:solidFill>
                          <a:schemeClr val="tx1"/>
                        </a:solidFill>
                      </a:endParaRPr>
                    </a:p>
                  </a:txBody>
                  <a:tcPr marL="141743" marR="141743" marT="141743" marB="14174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659415384"/>
                  </a:ext>
                </a:extLst>
              </a:tr>
              <a:tr h="1055316">
                <a:tc>
                  <a:txBody>
                    <a:bodyPr/>
                    <a:lstStyle/>
                    <a:p>
                      <a:pPr>
                        <a:buNone/>
                      </a:pPr>
                      <a:r>
                        <a:rPr lang="en-US" sz="4000" b="1" cap="none" spc="0" dirty="0">
                          <a:solidFill>
                            <a:schemeClr val="accent1"/>
                          </a:solidFill>
                        </a:rPr>
                        <a:t>03</a:t>
                      </a:r>
                    </a:p>
                  </a:txBody>
                  <a:tcPr marL="141743" marR="141743" marT="141743" marB="14174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US" sz="1400" kern="1200" dirty="0">
                          <a:solidFill>
                            <a:schemeClr val="dk1"/>
                          </a:solidFill>
                          <a:effectLst/>
                          <a:latin typeface="+mn-lt"/>
                          <a:ea typeface="+mn-ea"/>
                          <a:cs typeface="+mn-cs"/>
                        </a:rPr>
                        <a:t> </a:t>
                      </a:r>
                      <a:r>
                        <a:rPr lang="en-US" sz="1400" b="1" kern="1200" dirty="0">
                          <a:solidFill>
                            <a:schemeClr val="dk1"/>
                          </a:solidFill>
                          <a:effectLst/>
                          <a:latin typeface="+mn-lt"/>
                          <a:ea typeface="+mn-ea"/>
                          <a:cs typeface="+mn-cs"/>
                        </a:rPr>
                        <a:t>ESL teachers will complete ILPs for all students on their caseload with 100% accuracy.</a:t>
                      </a:r>
                      <a:r>
                        <a:rPr lang="en-US" sz="1400" b="1" dirty="0">
                          <a:effectLst/>
                        </a:rPr>
                        <a:t> </a:t>
                      </a:r>
                      <a:endParaRPr lang="en-US" sz="1400" b="1" cap="none" spc="0" dirty="0">
                        <a:solidFill>
                          <a:schemeClr val="tx1"/>
                        </a:solidFill>
                      </a:endParaRPr>
                    </a:p>
                  </a:txBody>
                  <a:tcPr marL="141743" marR="141743" marT="141743" marB="141743"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986632832"/>
                  </a:ext>
                </a:extLst>
              </a:tr>
            </a:tbl>
          </a:graphicData>
        </a:graphic>
      </p:graphicFrame>
      <p:pic>
        <p:nvPicPr>
          <p:cNvPr id="18" name="Audio 17">
            <a:extLst>
              <a:ext uri="{FF2B5EF4-FFF2-40B4-BE49-F238E27FC236}">
                <a16:creationId xmlns:a16="http://schemas.microsoft.com/office/drawing/2014/main" id="{4D20CA6F-1E8C-215D-A47A-661BD91B986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8646690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46104"/>
    </mc:Choice>
    <mc:Fallback>
      <p:transition spd="slow" advTm="4610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0604E0B1-6762-4B99-A6A5-42ED8E20D6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7" name="Freeform 7">
            <a:extLst>
              <a:ext uri="{FF2B5EF4-FFF2-40B4-BE49-F238E27FC236}">
                <a16:creationId xmlns:a16="http://schemas.microsoft.com/office/drawing/2014/main" id="{6D86F5FF-DE1B-4BAB-A7BE-6F39F5DD9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313808FA-D02B-9FE9-BEC2-EC1146DC8FA0}"/>
              </a:ext>
            </a:extLst>
          </p:cNvPr>
          <p:cNvSpPr>
            <a:spLocks noGrp="1"/>
          </p:cNvSpPr>
          <p:nvPr>
            <p:ph type="title"/>
          </p:nvPr>
        </p:nvSpPr>
        <p:spPr>
          <a:xfrm>
            <a:off x="648930" y="629267"/>
            <a:ext cx="9252154" cy="1016654"/>
          </a:xfrm>
        </p:spPr>
        <p:txBody>
          <a:bodyPr>
            <a:normAutofit/>
          </a:bodyPr>
          <a:lstStyle/>
          <a:p>
            <a:r>
              <a:rPr lang="en-US">
                <a:solidFill>
                  <a:srgbClr val="EBEBEB"/>
                </a:solidFill>
              </a:rPr>
              <a:t>Activities and Assessments </a:t>
            </a:r>
          </a:p>
        </p:txBody>
      </p:sp>
      <p:sp>
        <p:nvSpPr>
          <p:cNvPr id="29" name="Rectangle 28">
            <a:extLst>
              <a:ext uri="{FF2B5EF4-FFF2-40B4-BE49-F238E27FC236}">
                <a16:creationId xmlns:a16="http://schemas.microsoft.com/office/drawing/2014/main" id="{736AD705-9544-45E1-B278-8D99F718B8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Freeform: Shape 30">
            <a:extLst>
              <a:ext uri="{FF2B5EF4-FFF2-40B4-BE49-F238E27FC236}">
                <a16:creationId xmlns:a16="http://schemas.microsoft.com/office/drawing/2014/main" id="{8DFFC5B7-4963-4902-8A90-EFF5766892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US"/>
          </a:p>
        </p:txBody>
      </p:sp>
      <p:graphicFrame>
        <p:nvGraphicFramePr>
          <p:cNvPr id="4" name="Content Placeholder 3">
            <a:extLst>
              <a:ext uri="{FF2B5EF4-FFF2-40B4-BE49-F238E27FC236}">
                <a16:creationId xmlns:a16="http://schemas.microsoft.com/office/drawing/2014/main" id="{B8B7E6B7-1EC4-5B7E-7EF8-3570350AD4D3}"/>
              </a:ext>
            </a:extLst>
          </p:cNvPr>
          <p:cNvGraphicFramePr>
            <a:graphicFrameLocks noGrp="1"/>
          </p:cNvGraphicFramePr>
          <p:nvPr>
            <p:ph idx="1"/>
            <p:extLst>
              <p:ext uri="{D42A27DB-BD31-4B8C-83A1-F6EECF244321}">
                <p14:modId xmlns:p14="http://schemas.microsoft.com/office/powerpoint/2010/main" val="2621107332"/>
              </p:ext>
            </p:extLst>
          </p:nvPr>
        </p:nvGraphicFramePr>
        <p:xfrm>
          <a:off x="799537" y="2399363"/>
          <a:ext cx="10895371" cy="4344951"/>
        </p:xfrm>
        <a:graphic>
          <a:graphicData uri="http://schemas.openxmlformats.org/drawingml/2006/table">
            <a:tbl>
              <a:tblPr firstRow="1" bandRow="1">
                <a:solidFill>
                  <a:schemeClr val="bg1">
                    <a:lumMod val="95000"/>
                  </a:schemeClr>
                </a:solidFill>
                <a:tableStyleId>{5C22544A-7EE6-4342-B048-85BDC9FD1C3A}</a:tableStyleId>
              </a:tblPr>
              <a:tblGrid>
                <a:gridCol w="3614174">
                  <a:extLst>
                    <a:ext uri="{9D8B030D-6E8A-4147-A177-3AD203B41FA5}">
                      <a16:colId xmlns:a16="http://schemas.microsoft.com/office/drawing/2014/main" val="2494358652"/>
                    </a:ext>
                  </a:extLst>
                </a:gridCol>
                <a:gridCol w="3605953">
                  <a:extLst>
                    <a:ext uri="{9D8B030D-6E8A-4147-A177-3AD203B41FA5}">
                      <a16:colId xmlns:a16="http://schemas.microsoft.com/office/drawing/2014/main" val="4109291792"/>
                    </a:ext>
                  </a:extLst>
                </a:gridCol>
                <a:gridCol w="3675244">
                  <a:extLst>
                    <a:ext uri="{9D8B030D-6E8A-4147-A177-3AD203B41FA5}">
                      <a16:colId xmlns:a16="http://schemas.microsoft.com/office/drawing/2014/main" val="1754824601"/>
                    </a:ext>
                  </a:extLst>
                </a:gridCol>
              </a:tblGrid>
              <a:tr h="639531">
                <a:tc>
                  <a:txBody>
                    <a:bodyPr/>
                    <a:lstStyle/>
                    <a:p>
                      <a:r>
                        <a:rPr lang="en-US" sz="1200" b="1" cap="none" spc="0">
                          <a:solidFill>
                            <a:schemeClr val="tx1"/>
                          </a:solidFill>
                        </a:rPr>
                        <a:t>Objectives </a:t>
                      </a:r>
                    </a:p>
                  </a:txBody>
                  <a:tcPr marL="47353" marR="51511" marT="13529" marB="101471"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1200" b="1" cap="none" spc="0">
                          <a:solidFill>
                            <a:schemeClr val="tx1"/>
                          </a:solidFill>
                        </a:rPr>
                        <a:t>Activity</a:t>
                      </a:r>
                    </a:p>
                  </a:txBody>
                  <a:tcPr marL="47353" marR="51511" marT="13529" marB="101471"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1200" b="1" cap="none" spc="0">
                          <a:solidFill>
                            <a:schemeClr val="tx1"/>
                          </a:solidFill>
                        </a:rPr>
                        <a:t>Assessment </a:t>
                      </a:r>
                    </a:p>
                  </a:txBody>
                  <a:tcPr marL="47353" marR="51511" marT="13529" marB="101471" anchor="b">
                    <a:lnL w="12700" cmpd="sng">
                      <a:noFill/>
                    </a:lnL>
                    <a:lnR w="12700" cmpd="sng">
                      <a:noFill/>
                    </a:lnR>
                    <a:lnT w="9525" cap="flat" cmpd="sng" algn="ctr">
                      <a:noFill/>
                      <a:prstDash val="solid"/>
                    </a:lnT>
                    <a:lnB w="38100" cmpd="sng">
                      <a:noFill/>
                    </a:lnB>
                    <a:solidFill>
                      <a:schemeClr val="bg1">
                        <a:lumMod val="95000"/>
                      </a:schemeClr>
                    </a:solidFill>
                  </a:tcPr>
                </a:tc>
                <a:extLst>
                  <a:ext uri="{0D108BD9-81ED-4DB2-BD59-A6C34878D82A}">
                    <a16:rowId xmlns:a16="http://schemas.microsoft.com/office/drawing/2014/main" val="473561006"/>
                  </a:ext>
                </a:extLst>
              </a:tr>
              <a:tr h="683238">
                <a:tc>
                  <a:txBody>
                    <a:bodyPr/>
                    <a:lstStyle/>
                    <a:p>
                      <a:r>
                        <a:rPr lang="en-US" sz="1050" kern="1200" cap="none" spc="0">
                          <a:solidFill>
                            <a:schemeClr val="tx1"/>
                          </a:solidFill>
                          <a:effectLst/>
                          <a:latin typeface="+mn-lt"/>
                          <a:ea typeface="+mn-ea"/>
                          <a:cs typeface="+mn-cs"/>
                        </a:rPr>
                        <a:t>1a: Given access to ELLevation, ESL teachers will learn how to filter and identify EL students on their caseload with 100% accuracy</a:t>
                      </a:r>
                    </a:p>
                    <a:p>
                      <a:r>
                        <a:rPr lang="en-US" sz="1050" kern="1200" cap="none" spc="0">
                          <a:solidFill>
                            <a:schemeClr val="tx1"/>
                          </a:solidFill>
                          <a:effectLst/>
                          <a:latin typeface="+mn-lt"/>
                          <a:ea typeface="+mn-ea"/>
                          <a:cs typeface="+mn-cs"/>
                        </a:rPr>
                        <a:t>1b: Demonstrate understanding of why accuracy is important.</a:t>
                      </a:r>
                      <a:r>
                        <a:rPr lang="en-US" sz="1050" cap="none" spc="0">
                          <a:solidFill>
                            <a:schemeClr val="tx1"/>
                          </a:solidFill>
                          <a:effectLst/>
                        </a:rPr>
                        <a:t> </a:t>
                      </a:r>
                      <a:endParaRPr lang="en-US" sz="1050" cap="none" spc="0">
                        <a:solidFill>
                          <a:schemeClr val="tx1"/>
                        </a:solidFill>
                      </a:endParaRPr>
                    </a:p>
                  </a:txBody>
                  <a:tcPr marL="47353" marR="51511" marT="13529" marB="101471">
                    <a:lnL w="12700" cap="flat" cmpd="sng" algn="ctr">
                      <a:solidFill>
                        <a:schemeClr val="tx1"/>
                      </a:solid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50" kern="1200" cap="none" spc="0" dirty="0">
                          <a:solidFill>
                            <a:schemeClr val="tx1"/>
                          </a:solidFill>
                          <a:effectLst/>
                          <a:latin typeface="+mn-lt"/>
                          <a:ea typeface="+mn-ea"/>
                          <a:cs typeface="+mn-cs"/>
                        </a:rPr>
                        <a:t>Scenario 1: A new ESL teacher doesn’t know how to find her students in the </a:t>
                      </a:r>
                      <a:r>
                        <a:rPr lang="en-US" sz="1050" kern="1200" cap="none" spc="0" dirty="0" err="1">
                          <a:solidFill>
                            <a:schemeClr val="tx1"/>
                          </a:solidFill>
                          <a:effectLst/>
                          <a:latin typeface="+mn-lt"/>
                          <a:ea typeface="+mn-ea"/>
                          <a:cs typeface="+mn-cs"/>
                        </a:rPr>
                        <a:t>ELLevation</a:t>
                      </a:r>
                      <a:r>
                        <a:rPr lang="en-US" sz="1050" kern="1200" cap="none" spc="0" dirty="0">
                          <a:solidFill>
                            <a:schemeClr val="tx1"/>
                          </a:solidFill>
                          <a:effectLst/>
                          <a:latin typeface="+mn-lt"/>
                          <a:ea typeface="+mn-ea"/>
                          <a:cs typeface="+mn-cs"/>
                        </a:rPr>
                        <a:t> platform to add them to her spreadsheet. How should she sort and identify her students?</a:t>
                      </a:r>
                    </a:p>
                    <a:p>
                      <a:endParaRPr lang="en-US" sz="1050" cap="none" spc="0" dirty="0">
                        <a:solidFill>
                          <a:schemeClr val="tx1"/>
                        </a:solidFill>
                      </a:endParaRPr>
                    </a:p>
                  </a:txBody>
                  <a:tcPr marL="47353" marR="51511" marT="13529" marB="101471">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r>
                        <a:rPr lang="en-US" sz="1050" cap="none" spc="0">
                          <a:solidFill>
                            <a:schemeClr val="tx1"/>
                          </a:solidFill>
                        </a:rPr>
                        <a:t>Quiz</a:t>
                      </a:r>
                    </a:p>
                    <a:p>
                      <a:pPr marL="285750" lvl="0" indent="-285750">
                        <a:buFont typeface="Arial" panose="020B0604020202020204" pitchFamily="34" charset="0"/>
                        <a:buChar char="•"/>
                      </a:pPr>
                      <a:r>
                        <a:rPr lang="en-US" sz="1050" kern="1200" cap="none" spc="0">
                          <a:solidFill>
                            <a:schemeClr val="tx1"/>
                          </a:solidFill>
                          <a:effectLst/>
                          <a:latin typeface="+mn-lt"/>
                          <a:ea typeface="+mn-ea"/>
                          <a:cs typeface="+mn-cs"/>
                        </a:rPr>
                        <a:t>Questions on filtering and identifying students </a:t>
                      </a:r>
                    </a:p>
                    <a:p>
                      <a:pPr marL="285750" lvl="0" indent="-285750">
                        <a:buFont typeface="Arial" panose="020B0604020202020204" pitchFamily="34" charset="0"/>
                        <a:buChar char="•"/>
                      </a:pPr>
                      <a:r>
                        <a:rPr lang="en-US" sz="1050" kern="1200" cap="none" spc="0">
                          <a:solidFill>
                            <a:schemeClr val="tx1"/>
                          </a:solidFill>
                          <a:effectLst/>
                          <a:latin typeface="+mn-lt"/>
                          <a:ea typeface="+mn-ea"/>
                          <a:cs typeface="+mn-cs"/>
                        </a:rPr>
                        <a:t>Questions on the importance of accuracy</a:t>
                      </a:r>
                    </a:p>
                    <a:p>
                      <a:endParaRPr lang="en-US" sz="1050" cap="none" spc="0">
                        <a:solidFill>
                          <a:schemeClr val="tx1"/>
                        </a:solidFill>
                      </a:endParaRPr>
                    </a:p>
                  </a:txBody>
                  <a:tcPr marL="47353" marR="51511" marT="13529" marB="101471">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extLst>
                  <a:ext uri="{0D108BD9-81ED-4DB2-BD59-A6C34878D82A}">
                    <a16:rowId xmlns:a16="http://schemas.microsoft.com/office/drawing/2014/main" val="3625961846"/>
                  </a:ext>
                </a:extLst>
              </a:tr>
              <a:tr h="818533">
                <a:tc>
                  <a:txBody>
                    <a:bodyPr/>
                    <a:lstStyle/>
                    <a:p>
                      <a:r>
                        <a:rPr lang="en-US" sz="1050" kern="1200" cap="none" spc="0">
                          <a:solidFill>
                            <a:schemeClr val="tx1"/>
                          </a:solidFill>
                          <a:effectLst/>
                          <a:latin typeface="+mn-lt"/>
                          <a:ea typeface="+mn-ea"/>
                          <a:cs typeface="+mn-cs"/>
                        </a:rPr>
                        <a:t> Given access to TN-Pulse, ESL teachers will add identified EL students from ELLevation to their caseload with 100% accuracy. </a:t>
                      </a:r>
                      <a:endParaRPr lang="en-US" sz="1050" cap="none" spc="0">
                        <a:solidFill>
                          <a:schemeClr val="tx1"/>
                        </a:solidFill>
                      </a:endParaRPr>
                    </a:p>
                  </a:txBody>
                  <a:tcPr marL="47353" marR="51511" marT="13529" marB="101471">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50" kern="1200" cap="none" spc="0">
                          <a:solidFill>
                            <a:schemeClr val="tx1"/>
                          </a:solidFill>
                          <a:effectLst/>
                          <a:latin typeface="+mn-lt"/>
                          <a:ea typeface="+mn-ea"/>
                          <a:cs typeface="+mn-cs"/>
                        </a:rPr>
                        <a:t>Scenario 2: An ESL teacher just received a new student. It has been months since she has used the TN-Pulse platform and she can’t remember how to add students to her caseload. Could you put the steps in the correct order for her? </a:t>
                      </a:r>
                    </a:p>
                    <a:p>
                      <a:endParaRPr lang="en-US" sz="1050" cap="none" spc="0">
                        <a:solidFill>
                          <a:schemeClr val="tx1"/>
                        </a:solidFill>
                      </a:endParaRPr>
                    </a:p>
                  </a:txBody>
                  <a:tcPr marL="47353" marR="51511" marT="13529" marB="101471">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50" kern="1200" cap="none" spc="0">
                          <a:solidFill>
                            <a:schemeClr val="tx1"/>
                          </a:solidFill>
                          <a:effectLst/>
                          <a:latin typeface="+mn-lt"/>
                          <a:ea typeface="+mn-ea"/>
                          <a:cs typeface="+mn-cs"/>
                        </a:rPr>
                        <a:t>Quiz: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kern="1200" cap="none" spc="0">
                          <a:solidFill>
                            <a:schemeClr val="tx1"/>
                          </a:solidFill>
                          <a:effectLst/>
                          <a:latin typeface="+mn-lt"/>
                          <a:ea typeface="+mn-ea"/>
                          <a:cs typeface="+mn-cs"/>
                        </a:rPr>
                        <a:t>Learners will put the transfer steps in order </a:t>
                      </a:r>
                    </a:p>
                    <a:p>
                      <a:endParaRPr lang="en-US" sz="1050" cap="none" spc="0">
                        <a:solidFill>
                          <a:schemeClr val="tx1"/>
                        </a:solidFill>
                      </a:endParaRPr>
                    </a:p>
                  </a:txBody>
                  <a:tcPr marL="47353" marR="51511" marT="13529" marB="101471">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2078267082"/>
                  </a:ext>
                </a:extLst>
              </a:tr>
              <a:tr h="1359711">
                <a:tc>
                  <a:txBody>
                    <a:bodyPr/>
                    <a:lstStyle/>
                    <a:p>
                      <a:r>
                        <a:rPr lang="en-US" sz="1050" kern="1200" cap="none" spc="0">
                          <a:solidFill>
                            <a:schemeClr val="tx1"/>
                          </a:solidFill>
                          <a:effectLst/>
                          <a:latin typeface="+mn-lt"/>
                          <a:ea typeface="+mn-ea"/>
                          <a:cs typeface="+mn-cs"/>
                        </a:rPr>
                        <a:t> ESL teachers will complete ILPs for all students on their caseload with 100% accuracy.</a:t>
                      </a:r>
                      <a:r>
                        <a:rPr lang="en-US" sz="1050" cap="none" spc="0">
                          <a:solidFill>
                            <a:schemeClr val="tx1"/>
                          </a:solidFill>
                          <a:effectLst/>
                        </a:rPr>
                        <a:t> </a:t>
                      </a:r>
                      <a:endParaRPr lang="en-US" sz="1050" cap="none" spc="0">
                        <a:solidFill>
                          <a:schemeClr val="tx1"/>
                        </a:solidFill>
                      </a:endParaRPr>
                    </a:p>
                  </a:txBody>
                  <a:tcPr marL="47353" marR="51511" marT="13529" marB="101471">
                    <a:lnL w="12700" cap="flat" cmpd="sng" algn="ctr">
                      <a:solidFill>
                        <a:schemeClr val="tx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50" kern="1200" cap="none" spc="0">
                          <a:solidFill>
                            <a:schemeClr val="tx1"/>
                          </a:solidFill>
                          <a:effectLst/>
                          <a:latin typeface="+mn-lt"/>
                          <a:ea typeface="+mn-ea"/>
                          <a:cs typeface="+mn-cs"/>
                        </a:rPr>
                        <a:t>The learner will engage in a drag and drop activity. They will have to put the steps to complete an ILP in order. </a:t>
                      </a:r>
                    </a:p>
                    <a:p>
                      <a:endParaRPr lang="en-US" sz="1050" cap="none" spc="0">
                        <a:solidFill>
                          <a:schemeClr val="tx1"/>
                        </a:solidFill>
                      </a:endParaRPr>
                    </a:p>
                  </a:txBody>
                  <a:tcPr marL="47353" marR="51511" marT="13529" marB="10147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050" kern="1200" cap="none" spc="0" dirty="0">
                          <a:solidFill>
                            <a:schemeClr val="tx1"/>
                          </a:solidFill>
                          <a:effectLst/>
                          <a:latin typeface="+mn-lt"/>
                          <a:ea typeface="+mn-ea"/>
                          <a:cs typeface="+mn-cs"/>
                        </a:rPr>
                        <a:t>Learners will complete a quiz at the end of the training on how to complete various parts of an ILP. </a:t>
                      </a:r>
                    </a:p>
                    <a:p>
                      <a:r>
                        <a:rPr lang="en-US" sz="1050" b="1" kern="1200" cap="none" spc="0" dirty="0">
                          <a:solidFill>
                            <a:schemeClr val="tx1"/>
                          </a:solidFill>
                          <a:effectLst/>
                          <a:latin typeface="+mn-lt"/>
                          <a:ea typeface="+mn-ea"/>
                          <a:cs typeface="+mn-cs"/>
                        </a:rPr>
                        <a:t>Sample questions:</a:t>
                      </a:r>
                      <a:endParaRPr lang="en-US" sz="1050" kern="1200" cap="none" spc="0" dirty="0">
                        <a:solidFill>
                          <a:schemeClr val="tx1"/>
                        </a:solidFill>
                        <a:effectLst/>
                        <a:latin typeface="+mn-lt"/>
                        <a:ea typeface="+mn-ea"/>
                        <a:cs typeface="+mn-cs"/>
                      </a:endParaRPr>
                    </a:p>
                    <a:p>
                      <a:r>
                        <a:rPr lang="en-US" sz="1050" kern="1200" cap="none" spc="0" dirty="0">
                          <a:solidFill>
                            <a:schemeClr val="tx1"/>
                          </a:solidFill>
                          <a:effectLst/>
                          <a:latin typeface="+mn-lt"/>
                          <a:ea typeface="+mn-ea"/>
                          <a:cs typeface="+mn-cs"/>
                        </a:rPr>
                        <a:t>In which tile must student demographic information be placed?</a:t>
                      </a:r>
                    </a:p>
                    <a:p>
                      <a:r>
                        <a:rPr lang="en-US" sz="1050" kern="1200" cap="none" spc="0" dirty="0">
                          <a:solidFill>
                            <a:schemeClr val="tx1"/>
                          </a:solidFill>
                          <a:effectLst/>
                          <a:latin typeface="+mn-lt"/>
                          <a:ea typeface="+mn-ea"/>
                          <a:cs typeface="+mn-cs"/>
                        </a:rPr>
                        <a:t> </a:t>
                      </a:r>
                    </a:p>
                    <a:p>
                      <a:r>
                        <a:rPr lang="en-US" sz="1050" kern="1200" cap="none" spc="0" dirty="0">
                          <a:solidFill>
                            <a:schemeClr val="tx1"/>
                          </a:solidFill>
                          <a:effectLst/>
                          <a:latin typeface="+mn-lt"/>
                          <a:ea typeface="+mn-ea"/>
                          <a:cs typeface="+mn-cs"/>
                        </a:rPr>
                        <a:t>How do I create an initial parent notification letter?</a:t>
                      </a:r>
                    </a:p>
                    <a:p>
                      <a:r>
                        <a:rPr lang="en-US" sz="1050" kern="1200" cap="none" spc="0" dirty="0">
                          <a:solidFill>
                            <a:schemeClr val="tx1"/>
                          </a:solidFill>
                          <a:effectLst/>
                          <a:latin typeface="+mn-lt"/>
                          <a:ea typeface="+mn-ea"/>
                          <a:cs typeface="+mn-cs"/>
                        </a:rPr>
                        <a:t> </a:t>
                      </a:r>
                    </a:p>
                    <a:p>
                      <a:r>
                        <a:rPr lang="en-US" sz="1050" kern="1200" cap="none" spc="0" dirty="0">
                          <a:solidFill>
                            <a:schemeClr val="tx1"/>
                          </a:solidFill>
                          <a:effectLst/>
                          <a:latin typeface="+mn-lt"/>
                          <a:ea typeface="+mn-ea"/>
                          <a:cs typeface="+mn-cs"/>
                        </a:rPr>
                        <a:t>Which tiles must be completed for T1/T2 students? </a:t>
                      </a:r>
                    </a:p>
                    <a:p>
                      <a:endParaRPr lang="en-US" sz="1050" cap="none" spc="0" dirty="0">
                        <a:solidFill>
                          <a:schemeClr val="tx1"/>
                        </a:solidFill>
                      </a:endParaRPr>
                    </a:p>
                  </a:txBody>
                  <a:tcPr marL="47353" marR="51511" marT="13529" marB="10147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690489861"/>
                  </a:ext>
                </a:extLst>
              </a:tr>
            </a:tbl>
          </a:graphicData>
        </a:graphic>
      </p:graphicFrame>
      <p:pic>
        <p:nvPicPr>
          <p:cNvPr id="24" name="Audio 23">
            <a:extLst>
              <a:ext uri="{FF2B5EF4-FFF2-40B4-BE49-F238E27FC236}">
                <a16:creationId xmlns:a16="http://schemas.microsoft.com/office/drawing/2014/main" id="{E3FB01AF-11F9-7C84-6786-6AF09105740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9590597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98846"/>
    </mc:Choice>
    <mc:Fallback>
      <p:transition spd="slow" advTm="988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5">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D2D844C-AB64-4A03-80BE-33212E61DD0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9" name="Picture 8">
            <a:extLst>
              <a:ext uri="{FF2B5EF4-FFF2-40B4-BE49-F238E27FC236}">
                <a16:creationId xmlns:a16="http://schemas.microsoft.com/office/drawing/2014/main" id="{CAAD0E9B-89C2-4268-98B4-BA7BFFF2C7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1" name="Oval 10">
            <a:extLst>
              <a:ext uri="{FF2B5EF4-FFF2-40B4-BE49-F238E27FC236}">
                <a16:creationId xmlns:a16="http://schemas.microsoft.com/office/drawing/2014/main" id="{1653AB08-C531-42A8-AA8D-C2ABAE87CC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3" name="Picture 12">
            <a:extLst>
              <a:ext uri="{FF2B5EF4-FFF2-40B4-BE49-F238E27FC236}">
                <a16:creationId xmlns:a16="http://schemas.microsoft.com/office/drawing/2014/main" id="{72E47EEC-33C8-4EC3-8BFC-BB02B4171FD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8">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5" name="Picture 14">
            <a:extLst>
              <a:ext uri="{FF2B5EF4-FFF2-40B4-BE49-F238E27FC236}">
                <a16:creationId xmlns:a16="http://schemas.microsoft.com/office/drawing/2014/main" id="{A8BC9CC6-50D5-4C61-9EDE-315A1B5F14E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9">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7" name="Rectangle 16">
            <a:extLst>
              <a:ext uri="{FF2B5EF4-FFF2-40B4-BE49-F238E27FC236}">
                <a16:creationId xmlns:a16="http://schemas.microsoft.com/office/drawing/2014/main" id="{CED2641B-4430-4CF4-89AB-3FADDD630F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9" name="Rectangle 18">
            <a:extLst>
              <a:ext uri="{FF2B5EF4-FFF2-40B4-BE49-F238E27FC236}">
                <a16:creationId xmlns:a16="http://schemas.microsoft.com/office/drawing/2014/main" id="{C28D0172-F2E0-4763-9C35-F022664959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
            <a:ext cx="12191695" cy="4730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F6FB2B2-CE21-407F-B22E-302DADC2C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3" name="Freeform 16">
            <a:extLst>
              <a:ext uri="{FF2B5EF4-FFF2-40B4-BE49-F238E27FC236}">
                <a16:creationId xmlns:a16="http://schemas.microsoft.com/office/drawing/2014/main" id="{9F2851FB-E841-4509-8A6D-A416376EA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3753695"/>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D59EF5-632C-ACBA-8C28-0AA1208D200B}"/>
              </a:ext>
            </a:extLst>
          </p:cNvPr>
          <p:cNvSpPr>
            <a:spLocks noGrp="1"/>
          </p:cNvSpPr>
          <p:nvPr>
            <p:ph type="title"/>
          </p:nvPr>
        </p:nvSpPr>
        <p:spPr>
          <a:xfrm>
            <a:off x="965505" y="623571"/>
            <a:ext cx="10260990" cy="3523885"/>
          </a:xfrm>
        </p:spPr>
        <p:txBody>
          <a:bodyPr vert="horz" lIns="91440" tIns="45720" rIns="91440" bIns="45720" rtlCol="0" anchor="b">
            <a:normAutofit/>
          </a:bodyPr>
          <a:lstStyle/>
          <a:p>
            <a:pPr algn="ctr"/>
            <a:r>
              <a:rPr lang="en-US" sz="8000"/>
              <a:t>Deep Dive: Objective 1  </a:t>
            </a:r>
          </a:p>
        </p:txBody>
      </p:sp>
      <p:pic>
        <p:nvPicPr>
          <p:cNvPr id="31" name="Audio 30">
            <a:extLst>
              <a:ext uri="{FF2B5EF4-FFF2-40B4-BE49-F238E27FC236}">
                <a16:creationId xmlns:a16="http://schemas.microsoft.com/office/drawing/2014/main" id="{2CD811E8-AAB2-7694-AA93-5888627F4FDE}"/>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878342402"/>
      </p:ext>
    </p:extLst>
  </p:cSld>
  <p:clrMapOvr>
    <a:masterClrMapping/>
  </p:clrMapOvr>
  <mc:AlternateContent xmlns:mc="http://schemas.openxmlformats.org/markup-compatibility/2006">
    <mc:Choice xmlns:p14="http://schemas.microsoft.com/office/powerpoint/2010/main" Requires="p14">
      <p:transition spd="slow" p14:dur="2000" advTm="5379"/>
    </mc:Choice>
    <mc:Fallback>
      <p:transition spd="slow" advTm="53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1"/>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13C9C0A-47AD-49A5-838A-A43281BDCD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7">
            <a:extLst>
              <a:ext uri="{FF2B5EF4-FFF2-40B4-BE49-F238E27FC236}">
                <a16:creationId xmlns:a16="http://schemas.microsoft.com/office/drawing/2014/main" id="{79507746-2C84-4EB6-B021-47E5289106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55CE7C4D-3ADC-A586-4FC8-D2689D3B488F}"/>
              </a:ext>
            </a:extLst>
          </p:cNvPr>
          <p:cNvSpPr>
            <a:spLocks noGrp="1"/>
          </p:cNvSpPr>
          <p:nvPr>
            <p:ph type="title"/>
          </p:nvPr>
        </p:nvSpPr>
        <p:spPr>
          <a:xfrm>
            <a:off x="648930" y="629267"/>
            <a:ext cx="9252154" cy="1016654"/>
          </a:xfrm>
        </p:spPr>
        <p:txBody>
          <a:bodyPr>
            <a:normAutofit/>
          </a:bodyPr>
          <a:lstStyle/>
          <a:p>
            <a:r>
              <a:rPr lang="en-US">
                <a:solidFill>
                  <a:srgbClr val="EBEBEB"/>
                </a:solidFill>
              </a:rPr>
              <a:t>Objective 1</a:t>
            </a:r>
          </a:p>
        </p:txBody>
      </p:sp>
      <p:sp>
        <p:nvSpPr>
          <p:cNvPr id="13" name="Rectangle 12">
            <a:extLst>
              <a:ext uri="{FF2B5EF4-FFF2-40B4-BE49-F238E27FC236}">
                <a16:creationId xmlns:a16="http://schemas.microsoft.com/office/drawing/2014/main" id="{7B0D28F5-B926-4D9B-9413-91E73A4C62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2B3D24C5-CE61-47C8-A0D0-C767528D1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US"/>
          </a:p>
        </p:txBody>
      </p:sp>
      <p:graphicFrame>
        <p:nvGraphicFramePr>
          <p:cNvPr id="5" name="Content Placeholder 2">
            <a:extLst>
              <a:ext uri="{FF2B5EF4-FFF2-40B4-BE49-F238E27FC236}">
                <a16:creationId xmlns:a16="http://schemas.microsoft.com/office/drawing/2014/main" id="{E457ABC0-998E-71D2-A4A4-89A91D84BDDA}"/>
              </a:ext>
            </a:extLst>
          </p:cNvPr>
          <p:cNvGraphicFramePr>
            <a:graphicFrameLocks noGrp="1"/>
          </p:cNvGraphicFramePr>
          <p:nvPr>
            <p:ph idx="1"/>
            <p:extLst>
              <p:ext uri="{D42A27DB-BD31-4B8C-83A1-F6EECF244321}">
                <p14:modId xmlns:p14="http://schemas.microsoft.com/office/powerpoint/2010/main" val="1918669876"/>
              </p:ext>
            </p:extLst>
          </p:nvPr>
        </p:nvGraphicFramePr>
        <p:xfrm>
          <a:off x="648930" y="2275188"/>
          <a:ext cx="10895370" cy="393934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6" name="Audio 15">
            <a:extLst>
              <a:ext uri="{FF2B5EF4-FFF2-40B4-BE49-F238E27FC236}">
                <a16:creationId xmlns:a16="http://schemas.microsoft.com/office/drawing/2014/main" id="{0E4AF47E-FDED-AB86-7EE7-DC3AA5533149}"/>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6940429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23974"/>
    </mc:Choice>
    <mc:Fallback>
      <p:transition spd="slow" advTm="2397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F411A-C5EA-CB74-3874-576908263087}"/>
              </a:ext>
            </a:extLst>
          </p:cNvPr>
          <p:cNvSpPr>
            <a:spLocks noGrp="1"/>
          </p:cNvSpPr>
          <p:nvPr>
            <p:ph type="title"/>
          </p:nvPr>
        </p:nvSpPr>
        <p:spPr/>
        <p:txBody>
          <a:bodyPr/>
          <a:lstStyle/>
          <a:p>
            <a:r>
              <a:rPr lang="en-US" sz="4400" dirty="0"/>
              <a:t>Instructional Strategy </a:t>
            </a:r>
            <a:endParaRPr lang="en-US" dirty="0"/>
          </a:p>
        </p:txBody>
      </p:sp>
      <p:sp>
        <p:nvSpPr>
          <p:cNvPr id="3" name="Content Placeholder 2">
            <a:extLst>
              <a:ext uri="{FF2B5EF4-FFF2-40B4-BE49-F238E27FC236}">
                <a16:creationId xmlns:a16="http://schemas.microsoft.com/office/drawing/2014/main" id="{691F2038-4385-3ADA-1577-DF108BEA645E}"/>
              </a:ext>
            </a:extLst>
          </p:cNvPr>
          <p:cNvSpPr>
            <a:spLocks noGrp="1"/>
          </p:cNvSpPr>
          <p:nvPr>
            <p:ph idx="1"/>
          </p:nvPr>
        </p:nvSpPr>
        <p:spPr/>
        <p:txBody>
          <a:bodyPr/>
          <a:lstStyle/>
          <a:p>
            <a:r>
              <a:rPr lang="en-US" sz="2800" dirty="0"/>
              <a:t>Asynchronous scenario-based training</a:t>
            </a:r>
          </a:p>
          <a:p>
            <a:r>
              <a:rPr lang="en-US" sz="2800" dirty="0"/>
              <a:t>Video explaining the steps to identify students</a:t>
            </a:r>
          </a:p>
          <a:p>
            <a:r>
              <a:rPr lang="en-US" sz="2800" dirty="0"/>
              <a:t> Sequence activity </a:t>
            </a:r>
          </a:p>
          <a:p>
            <a:r>
              <a:rPr lang="en-US" sz="2800" dirty="0"/>
              <a:t>Training quiz</a:t>
            </a:r>
          </a:p>
          <a:p>
            <a:r>
              <a:rPr lang="en-US" sz="2800" dirty="0"/>
              <a:t>Job aid/handout</a:t>
            </a:r>
          </a:p>
        </p:txBody>
      </p:sp>
      <p:pic>
        <p:nvPicPr>
          <p:cNvPr id="22" name="Audio 21">
            <a:extLst>
              <a:ext uri="{FF2B5EF4-FFF2-40B4-BE49-F238E27FC236}">
                <a16:creationId xmlns:a16="http://schemas.microsoft.com/office/drawing/2014/main" id="{2EAF2E5C-2244-45CF-9CAF-4FCD9D8DA0D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933787170"/>
      </p:ext>
    </p:extLst>
  </p:cSld>
  <p:clrMapOvr>
    <a:masterClrMapping/>
  </p:clrMapOvr>
  <mc:AlternateContent xmlns:mc="http://schemas.openxmlformats.org/markup-compatibility/2006">
    <mc:Choice xmlns:p14="http://schemas.microsoft.com/office/powerpoint/2010/main" Requires="p14">
      <p:transition spd="slow" p14:dur="2000" advTm="42173"/>
    </mc:Choice>
    <mc:Fallback>
      <p:transition spd="slow" advTm="421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B9B62-049A-5756-20C7-933F6D313E19}"/>
              </a:ext>
            </a:extLst>
          </p:cNvPr>
          <p:cNvSpPr>
            <a:spLocks noGrp="1"/>
          </p:cNvSpPr>
          <p:nvPr>
            <p:ph type="title"/>
          </p:nvPr>
        </p:nvSpPr>
        <p:spPr/>
        <p:txBody>
          <a:bodyPr/>
          <a:lstStyle/>
          <a:p>
            <a:r>
              <a:rPr lang="en-US" dirty="0"/>
              <a:t>Training video </a:t>
            </a:r>
          </a:p>
        </p:txBody>
      </p:sp>
      <p:pic>
        <p:nvPicPr>
          <p:cNvPr id="4" name="Picture 3" descr="Computer Monitor Screen Transparent HQ PNG Download | FreePNGimg">
            <a:extLst>
              <a:ext uri="{FF2B5EF4-FFF2-40B4-BE49-F238E27FC236}">
                <a16:creationId xmlns:a16="http://schemas.microsoft.com/office/drawing/2014/main" id="{247F2591-F668-C63A-9519-116E156DD807}"/>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4038101" y="1679077"/>
            <a:ext cx="7507788" cy="4852352"/>
          </a:xfrm>
          <a:prstGeom prst="rect">
            <a:avLst/>
          </a:prstGeom>
        </p:spPr>
      </p:pic>
      <p:pic>
        <p:nvPicPr>
          <p:cNvPr id="7" name="Picture 6">
            <a:extLst>
              <a:ext uri="{FF2B5EF4-FFF2-40B4-BE49-F238E27FC236}">
                <a16:creationId xmlns:a16="http://schemas.microsoft.com/office/drawing/2014/main" id="{60CB1B4E-B08A-D903-A5D8-049880354754}"/>
              </a:ext>
            </a:extLst>
          </p:cNvPr>
          <p:cNvPicPr>
            <a:picLocks noChangeAspect="1"/>
          </p:cNvPicPr>
          <p:nvPr/>
        </p:nvPicPr>
        <p:blipFill>
          <a:blip r:embed="rId7"/>
          <a:stretch>
            <a:fillRect/>
          </a:stretch>
        </p:blipFill>
        <p:spPr>
          <a:xfrm>
            <a:off x="4306480" y="1853248"/>
            <a:ext cx="6971029" cy="3468914"/>
          </a:xfrm>
          <a:prstGeom prst="rect">
            <a:avLst/>
          </a:prstGeom>
        </p:spPr>
      </p:pic>
      <p:sp>
        <p:nvSpPr>
          <p:cNvPr id="8" name="TextBox 7">
            <a:extLst>
              <a:ext uri="{FF2B5EF4-FFF2-40B4-BE49-F238E27FC236}">
                <a16:creationId xmlns:a16="http://schemas.microsoft.com/office/drawing/2014/main" id="{D717CFCE-D700-9C02-BDDF-50C9FACC09DF}"/>
              </a:ext>
            </a:extLst>
          </p:cNvPr>
          <p:cNvSpPr txBox="1"/>
          <p:nvPr/>
        </p:nvSpPr>
        <p:spPr>
          <a:xfrm>
            <a:off x="522514" y="1679077"/>
            <a:ext cx="3062515" cy="1323439"/>
          </a:xfrm>
          <a:prstGeom prst="rect">
            <a:avLst/>
          </a:prstGeom>
          <a:noFill/>
        </p:spPr>
        <p:txBody>
          <a:bodyPr wrap="square" rtlCol="0">
            <a:spAutoFit/>
          </a:bodyPr>
          <a:lstStyle/>
          <a:p>
            <a:r>
              <a:rPr lang="en-US" sz="2000" dirty="0"/>
              <a:t>The learner will watch a video explaining how to identify students in </a:t>
            </a:r>
            <a:r>
              <a:rPr lang="en-US" sz="2000" dirty="0" err="1"/>
              <a:t>ELLevation</a:t>
            </a:r>
            <a:r>
              <a:rPr lang="en-US" sz="2000" dirty="0"/>
              <a:t>.</a:t>
            </a:r>
          </a:p>
        </p:txBody>
      </p:sp>
      <p:pic>
        <p:nvPicPr>
          <p:cNvPr id="20" name="Audio 19">
            <a:extLst>
              <a:ext uri="{FF2B5EF4-FFF2-40B4-BE49-F238E27FC236}">
                <a16:creationId xmlns:a16="http://schemas.microsoft.com/office/drawing/2014/main" id="{764E4190-8F40-2228-75F7-BBE1945CACB8}"/>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84779200"/>
      </p:ext>
    </p:extLst>
  </p:cSld>
  <p:clrMapOvr>
    <a:masterClrMapping/>
  </p:clrMapOvr>
  <mc:AlternateContent xmlns:mc="http://schemas.openxmlformats.org/markup-compatibility/2006">
    <mc:Choice xmlns:p14="http://schemas.microsoft.com/office/powerpoint/2010/main" Requires="p14">
      <p:transition spd="slow" p14:dur="2000" advTm="9828"/>
    </mc:Choice>
    <mc:Fallback>
      <p:transition spd="slow" advTm="98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C087A-94E9-9750-943C-45F853A70CF2}"/>
              </a:ext>
            </a:extLst>
          </p:cNvPr>
          <p:cNvSpPr>
            <a:spLocks noGrp="1"/>
          </p:cNvSpPr>
          <p:nvPr>
            <p:ph type="title"/>
          </p:nvPr>
        </p:nvSpPr>
        <p:spPr/>
        <p:txBody>
          <a:bodyPr/>
          <a:lstStyle/>
          <a:p>
            <a:r>
              <a:rPr lang="en-US" dirty="0"/>
              <a:t>Module 1:Activity </a:t>
            </a:r>
          </a:p>
        </p:txBody>
      </p:sp>
      <p:sp>
        <p:nvSpPr>
          <p:cNvPr id="3" name="Content Placeholder 2">
            <a:extLst>
              <a:ext uri="{FF2B5EF4-FFF2-40B4-BE49-F238E27FC236}">
                <a16:creationId xmlns:a16="http://schemas.microsoft.com/office/drawing/2014/main" id="{27217813-F3B1-0989-1A09-30567ED34782}"/>
              </a:ext>
            </a:extLst>
          </p:cNvPr>
          <p:cNvSpPr>
            <a:spLocks noGrp="1"/>
          </p:cNvSpPr>
          <p:nvPr>
            <p:ph idx="1"/>
          </p:nvPr>
        </p:nvSpPr>
        <p:spPr>
          <a:xfrm>
            <a:off x="508226" y="1355707"/>
            <a:ext cx="8946541" cy="995082"/>
          </a:xfrm>
        </p:spPr>
        <p:txBody>
          <a:bodyPr/>
          <a:lstStyle/>
          <a:p>
            <a:r>
              <a:rPr lang="en-US" dirty="0"/>
              <a:t>The learner will engage in a scenario-based activity.  </a:t>
            </a:r>
          </a:p>
        </p:txBody>
      </p:sp>
      <p:sp>
        <p:nvSpPr>
          <p:cNvPr id="5" name="TextBox 4">
            <a:extLst>
              <a:ext uri="{FF2B5EF4-FFF2-40B4-BE49-F238E27FC236}">
                <a16:creationId xmlns:a16="http://schemas.microsoft.com/office/drawing/2014/main" id="{6FF3B01C-3D77-4EB1-4D24-EDBB2222F0A0}"/>
              </a:ext>
            </a:extLst>
          </p:cNvPr>
          <p:cNvSpPr txBox="1"/>
          <p:nvPr/>
        </p:nvSpPr>
        <p:spPr>
          <a:xfrm>
            <a:off x="646111" y="2075544"/>
            <a:ext cx="10704060" cy="1754326"/>
          </a:xfrm>
          <a:prstGeom prst="rect">
            <a:avLst/>
          </a:prstGeom>
          <a:noFill/>
          <a:ln>
            <a:solidFill>
              <a:schemeClr val="bg1">
                <a:lumMod val="75000"/>
                <a:lumOff val="25000"/>
              </a:schemeClr>
            </a:solidFill>
          </a:ln>
        </p:spPr>
        <p:txBody>
          <a:bodyPr wrap="square" rtlCol="0">
            <a:spAutoFit/>
          </a:bodyPr>
          <a:lstStyle/>
          <a:p>
            <a:r>
              <a:rPr lang="en-US" dirty="0"/>
              <a:t>Scenario:</a:t>
            </a:r>
          </a:p>
          <a:p>
            <a:r>
              <a:rPr lang="en-US" dirty="0"/>
              <a:t>A new ESL teacher doesn’t know how to find her students in the </a:t>
            </a:r>
            <a:r>
              <a:rPr lang="en-US" dirty="0" err="1"/>
              <a:t>ELLevation</a:t>
            </a:r>
            <a:r>
              <a:rPr lang="en-US" dirty="0"/>
              <a:t> platform. How should she sort and identify her students?  </a:t>
            </a:r>
          </a:p>
          <a:p>
            <a:endParaRPr lang="en-US" b="1" dirty="0"/>
          </a:p>
          <a:p>
            <a:r>
              <a:rPr lang="en-US" b="1" dirty="0"/>
              <a:t>Sorting activity- Put the steps in order. </a:t>
            </a:r>
          </a:p>
          <a:p>
            <a:endParaRPr lang="en-US" dirty="0"/>
          </a:p>
        </p:txBody>
      </p:sp>
      <p:sp>
        <p:nvSpPr>
          <p:cNvPr id="7" name="TextBox 6">
            <a:extLst>
              <a:ext uri="{FF2B5EF4-FFF2-40B4-BE49-F238E27FC236}">
                <a16:creationId xmlns:a16="http://schemas.microsoft.com/office/drawing/2014/main" id="{A7B76460-1134-E508-2520-D0FC2A80ED76}"/>
              </a:ext>
            </a:extLst>
          </p:cNvPr>
          <p:cNvSpPr txBox="1"/>
          <p:nvPr/>
        </p:nvSpPr>
        <p:spPr>
          <a:xfrm>
            <a:off x="3120571" y="3775168"/>
            <a:ext cx="2380343" cy="1477328"/>
          </a:xfrm>
          <a:prstGeom prst="rect">
            <a:avLst/>
          </a:prstGeom>
          <a:solidFill>
            <a:schemeClr val="tx2">
              <a:lumMod val="10000"/>
            </a:schemeClr>
          </a:solidFill>
        </p:spPr>
        <p:txBody>
          <a:bodyPr wrap="square" rtlCol="0">
            <a:spAutoFit/>
          </a:bodyPr>
          <a:lstStyle/>
          <a:p>
            <a:endParaRPr lang="en-US" dirty="0"/>
          </a:p>
          <a:p>
            <a:endParaRPr lang="en-US" dirty="0"/>
          </a:p>
          <a:p>
            <a:r>
              <a:rPr lang="en-US" dirty="0"/>
              <a:t>Log in to </a:t>
            </a:r>
            <a:r>
              <a:rPr lang="en-US" dirty="0" err="1"/>
              <a:t>Ellevation</a:t>
            </a:r>
            <a:endParaRPr lang="en-US" dirty="0"/>
          </a:p>
          <a:p>
            <a:endParaRPr lang="en-US" dirty="0"/>
          </a:p>
          <a:p>
            <a:r>
              <a:rPr lang="en-US" dirty="0"/>
              <a:t> </a:t>
            </a:r>
          </a:p>
        </p:txBody>
      </p:sp>
      <p:sp>
        <p:nvSpPr>
          <p:cNvPr id="9" name="TextBox 8">
            <a:extLst>
              <a:ext uri="{FF2B5EF4-FFF2-40B4-BE49-F238E27FC236}">
                <a16:creationId xmlns:a16="http://schemas.microsoft.com/office/drawing/2014/main" id="{41A3F11A-0F32-66B8-B6BF-57EE498B564B}"/>
              </a:ext>
            </a:extLst>
          </p:cNvPr>
          <p:cNvSpPr txBox="1"/>
          <p:nvPr/>
        </p:nvSpPr>
        <p:spPr>
          <a:xfrm>
            <a:off x="377371" y="3775168"/>
            <a:ext cx="2380343" cy="1477328"/>
          </a:xfrm>
          <a:prstGeom prst="rect">
            <a:avLst/>
          </a:prstGeom>
          <a:solidFill>
            <a:schemeClr val="tx2">
              <a:lumMod val="10000"/>
            </a:schemeClr>
          </a:solidFill>
        </p:spPr>
        <p:txBody>
          <a:bodyPr wrap="square" rtlCol="0">
            <a:spAutoFit/>
          </a:bodyPr>
          <a:lstStyle/>
          <a:p>
            <a:pPr algn="ctr"/>
            <a:endParaRPr lang="en-US" dirty="0"/>
          </a:p>
          <a:p>
            <a:pPr algn="ctr"/>
            <a:r>
              <a:rPr lang="en-US" dirty="0"/>
              <a:t>Apply filter to narrow results</a:t>
            </a:r>
          </a:p>
          <a:p>
            <a:endParaRPr lang="en-US" dirty="0"/>
          </a:p>
          <a:p>
            <a:r>
              <a:rPr lang="en-US" dirty="0"/>
              <a:t> </a:t>
            </a:r>
          </a:p>
        </p:txBody>
      </p:sp>
      <p:sp>
        <p:nvSpPr>
          <p:cNvPr id="10" name="TextBox 9">
            <a:extLst>
              <a:ext uri="{FF2B5EF4-FFF2-40B4-BE49-F238E27FC236}">
                <a16:creationId xmlns:a16="http://schemas.microsoft.com/office/drawing/2014/main" id="{14AE83DB-259E-6BA1-5937-142DAF8CCC7E}"/>
              </a:ext>
            </a:extLst>
          </p:cNvPr>
          <p:cNvSpPr txBox="1"/>
          <p:nvPr/>
        </p:nvSpPr>
        <p:spPr>
          <a:xfrm>
            <a:off x="5863771" y="3788007"/>
            <a:ext cx="2380343" cy="1477328"/>
          </a:xfrm>
          <a:prstGeom prst="rect">
            <a:avLst/>
          </a:prstGeom>
          <a:solidFill>
            <a:schemeClr val="tx2">
              <a:lumMod val="10000"/>
            </a:schemeClr>
          </a:solidFill>
        </p:spPr>
        <p:txBody>
          <a:bodyPr wrap="square" rtlCol="0">
            <a:spAutoFit/>
          </a:bodyPr>
          <a:lstStyle/>
          <a:p>
            <a:endParaRPr lang="en-US" dirty="0"/>
          </a:p>
          <a:p>
            <a:pPr algn="ctr"/>
            <a:r>
              <a:rPr lang="en-US" dirty="0"/>
              <a:t>Go to the “students” tab</a:t>
            </a:r>
          </a:p>
          <a:p>
            <a:pPr algn="ctr"/>
            <a:endParaRPr lang="en-US" dirty="0"/>
          </a:p>
          <a:p>
            <a:pPr algn="ctr"/>
            <a:endParaRPr lang="en-US" dirty="0"/>
          </a:p>
        </p:txBody>
      </p:sp>
      <p:sp>
        <p:nvSpPr>
          <p:cNvPr id="11" name="TextBox 10">
            <a:extLst>
              <a:ext uri="{FF2B5EF4-FFF2-40B4-BE49-F238E27FC236}">
                <a16:creationId xmlns:a16="http://schemas.microsoft.com/office/drawing/2014/main" id="{D6EB5DF6-1E86-815E-25E4-DF6A7581B4D6}"/>
              </a:ext>
            </a:extLst>
          </p:cNvPr>
          <p:cNvSpPr txBox="1"/>
          <p:nvPr/>
        </p:nvSpPr>
        <p:spPr>
          <a:xfrm>
            <a:off x="8650513" y="3788007"/>
            <a:ext cx="2380343" cy="1477328"/>
          </a:xfrm>
          <a:prstGeom prst="rect">
            <a:avLst/>
          </a:prstGeom>
          <a:solidFill>
            <a:schemeClr val="tx2">
              <a:lumMod val="10000"/>
            </a:schemeClr>
          </a:solidFill>
        </p:spPr>
        <p:txBody>
          <a:bodyPr wrap="square" rtlCol="0">
            <a:spAutoFit/>
          </a:bodyPr>
          <a:lstStyle/>
          <a:p>
            <a:endParaRPr lang="en-US" dirty="0"/>
          </a:p>
          <a:p>
            <a:endParaRPr lang="en-US" dirty="0"/>
          </a:p>
          <a:p>
            <a:pPr algn="ctr"/>
            <a:r>
              <a:rPr lang="en-US" dirty="0"/>
              <a:t>Verify student assignment</a:t>
            </a:r>
          </a:p>
          <a:p>
            <a:r>
              <a:rPr lang="en-US" dirty="0"/>
              <a:t> </a:t>
            </a:r>
          </a:p>
        </p:txBody>
      </p:sp>
      <p:pic>
        <p:nvPicPr>
          <p:cNvPr id="37" name="Audio 36">
            <a:extLst>
              <a:ext uri="{FF2B5EF4-FFF2-40B4-BE49-F238E27FC236}">
                <a16:creationId xmlns:a16="http://schemas.microsoft.com/office/drawing/2014/main" id="{47011945-AA04-24B2-1CD8-5B6C99B522E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307609639"/>
      </p:ext>
    </p:extLst>
  </p:cSld>
  <p:clrMapOvr>
    <a:masterClrMapping/>
  </p:clrMapOvr>
  <mc:AlternateContent xmlns:mc="http://schemas.openxmlformats.org/markup-compatibility/2006">
    <mc:Choice xmlns:p14="http://schemas.microsoft.com/office/powerpoint/2010/main" Requires="p14">
      <p:transition spd="slow" p14:dur="2000" advTm="42297"/>
    </mc:Choice>
    <mc:Fallback>
      <p:transition spd="slow" advTm="422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7"/>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2339E-DDE8-F64F-5C8C-B3D24C3ABA93}"/>
              </a:ext>
            </a:extLst>
          </p:cNvPr>
          <p:cNvSpPr>
            <a:spLocks noGrp="1"/>
          </p:cNvSpPr>
          <p:nvPr>
            <p:ph type="title"/>
          </p:nvPr>
        </p:nvSpPr>
        <p:spPr/>
        <p:txBody>
          <a:bodyPr/>
          <a:lstStyle/>
          <a:p>
            <a:r>
              <a:rPr lang="en-US" dirty="0"/>
              <a:t>Activity Example</a:t>
            </a:r>
          </a:p>
        </p:txBody>
      </p:sp>
      <p:sp>
        <p:nvSpPr>
          <p:cNvPr id="10" name="TextBox 9">
            <a:extLst>
              <a:ext uri="{FF2B5EF4-FFF2-40B4-BE49-F238E27FC236}">
                <a16:creationId xmlns:a16="http://schemas.microsoft.com/office/drawing/2014/main" id="{EA73541A-507A-2381-E84A-FC1341CCFEBF}"/>
              </a:ext>
            </a:extLst>
          </p:cNvPr>
          <p:cNvSpPr txBox="1"/>
          <p:nvPr/>
        </p:nvSpPr>
        <p:spPr>
          <a:xfrm>
            <a:off x="7110805" y="882127"/>
            <a:ext cx="2043953" cy="369332"/>
          </a:xfrm>
          <a:prstGeom prst="rect">
            <a:avLst/>
          </a:prstGeom>
          <a:noFill/>
        </p:spPr>
        <p:txBody>
          <a:bodyPr wrap="square" rtlCol="0">
            <a:spAutoFit/>
          </a:bodyPr>
          <a:lstStyle/>
          <a:p>
            <a:r>
              <a:rPr lang="en-US" dirty="0"/>
              <a:t>Module 1</a:t>
            </a:r>
          </a:p>
        </p:txBody>
      </p:sp>
      <p:sp>
        <p:nvSpPr>
          <p:cNvPr id="11" name="TextBox 10">
            <a:extLst>
              <a:ext uri="{FF2B5EF4-FFF2-40B4-BE49-F238E27FC236}">
                <a16:creationId xmlns:a16="http://schemas.microsoft.com/office/drawing/2014/main" id="{9E789BC7-8822-FE4A-BB8F-BBD6FE36CD85}"/>
              </a:ext>
            </a:extLst>
          </p:cNvPr>
          <p:cNvSpPr txBox="1"/>
          <p:nvPr/>
        </p:nvSpPr>
        <p:spPr>
          <a:xfrm>
            <a:off x="199444" y="6373223"/>
            <a:ext cx="4688114" cy="369332"/>
          </a:xfrm>
          <a:prstGeom prst="rect">
            <a:avLst/>
          </a:prstGeom>
          <a:noFill/>
        </p:spPr>
        <p:txBody>
          <a:bodyPr wrap="square" rtlCol="0">
            <a:spAutoFit/>
          </a:bodyPr>
          <a:lstStyle/>
          <a:p>
            <a:r>
              <a:rPr lang="en-US" dirty="0"/>
              <a:t>*</a:t>
            </a:r>
            <a:r>
              <a:rPr lang="en-US" sz="1200" dirty="0"/>
              <a:t>Visuals created with AI assistance</a:t>
            </a:r>
          </a:p>
        </p:txBody>
      </p:sp>
      <p:pic>
        <p:nvPicPr>
          <p:cNvPr id="15" name="Content Placeholder 14">
            <a:extLst>
              <a:ext uri="{FF2B5EF4-FFF2-40B4-BE49-F238E27FC236}">
                <a16:creationId xmlns:a16="http://schemas.microsoft.com/office/drawing/2014/main" id="{966F3ABE-B2BF-9D18-B0CD-BB5CA7B20B14}"/>
              </a:ext>
            </a:extLst>
          </p:cNvPr>
          <p:cNvPicPr>
            <a:picLocks noGrp="1" noChangeAspect="1"/>
          </p:cNvPicPr>
          <p:nvPr>
            <p:ph idx="1"/>
          </p:nvPr>
        </p:nvPicPr>
        <p:blipFill>
          <a:blip r:embed="rId5"/>
          <a:stretch>
            <a:fillRect/>
          </a:stretch>
        </p:blipFill>
        <p:spPr>
          <a:xfrm>
            <a:off x="1393371" y="1457551"/>
            <a:ext cx="9404722" cy="4518321"/>
          </a:xfrm>
          <a:prstGeom prst="rect">
            <a:avLst/>
          </a:prstGeom>
        </p:spPr>
      </p:pic>
      <p:pic>
        <p:nvPicPr>
          <p:cNvPr id="35" name="Audio 34">
            <a:extLst>
              <a:ext uri="{FF2B5EF4-FFF2-40B4-BE49-F238E27FC236}">
                <a16:creationId xmlns:a16="http://schemas.microsoft.com/office/drawing/2014/main" id="{E8E78681-2328-3878-E8BB-5747CE529AA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907693486"/>
      </p:ext>
    </p:extLst>
  </p:cSld>
  <p:clrMapOvr>
    <a:masterClrMapping/>
  </p:clrMapOvr>
  <mc:AlternateContent xmlns:mc="http://schemas.openxmlformats.org/markup-compatibility/2006">
    <mc:Choice xmlns:p14="http://schemas.microsoft.com/office/powerpoint/2010/main" Requires="p14">
      <p:transition spd="slow" p14:dur="2000" advTm="37599"/>
    </mc:Choice>
    <mc:Fallback>
      <p:transition spd="slow" advTm="375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5"/>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8EC7D-677C-273C-33D8-8BB272E9AF1D}"/>
              </a:ext>
            </a:extLst>
          </p:cNvPr>
          <p:cNvSpPr>
            <a:spLocks noGrp="1"/>
          </p:cNvSpPr>
          <p:nvPr>
            <p:ph type="title"/>
          </p:nvPr>
        </p:nvSpPr>
        <p:spPr/>
        <p:txBody>
          <a:bodyPr/>
          <a:lstStyle/>
          <a:p>
            <a:r>
              <a:rPr lang="en-US" dirty="0"/>
              <a:t>Assessment: Training Quiz </a:t>
            </a:r>
          </a:p>
        </p:txBody>
      </p:sp>
      <p:sp>
        <p:nvSpPr>
          <p:cNvPr id="3" name="Content Placeholder 2">
            <a:extLst>
              <a:ext uri="{FF2B5EF4-FFF2-40B4-BE49-F238E27FC236}">
                <a16:creationId xmlns:a16="http://schemas.microsoft.com/office/drawing/2014/main" id="{ABB7325E-E7C0-22EB-2D6F-8BEED7595F4A}"/>
              </a:ext>
            </a:extLst>
          </p:cNvPr>
          <p:cNvSpPr>
            <a:spLocks noGrp="1"/>
          </p:cNvSpPr>
          <p:nvPr>
            <p:ph idx="1"/>
          </p:nvPr>
        </p:nvSpPr>
        <p:spPr/>
        <p:txBody>
          <a:bodyPr/>
          <a:lstStyle/>
          <a:p>
            <a:r>
              <a:rPr lang="en-US" b="1" dirty="0"/>
              <a:t>Section 1: Filtering and identifying students</a:t>
            </a:r>
          </a:p>
          <a:p>
            <a:pPr marL="457200" indent="-457200">
              <a:buAutoNum type="arabicPeriod"/>
            </a:pPr>
            <a:r>
              <a:rPr lang="en-US" dirty="0"/>
              <a:t>Which filter should you apply when identifying students?</a:t>
            </a:r>
          </a:p>
          <a:p>
            <a:pPr lvl="1" indent="-342900">
              <a:buAutoNum type="alphaLcPeriod"/>
            </a:pPr>
            <a:r>
              <a:rPr lang="en-US" sz="1400" dirty="0"/>
              <a:t>Monitoring status &amp; EL Status </a:t>
            </a:r>
          </a:p>
          <a:p>
            <a:pPr lvl="1" indent="-342900">
              <a:buAutoNum type="alphaLcPeriod"/>
            </a:pPr>
            <a:r>
              <a:rPr lang="en-US" sz="1400" dirty="0"/>
              <a:t>School &amp; teacher </a:t>
            </a:r>
          </a:p>
          <a:p>
            <a:pPr lvl="1" indent="-342900">
              <a:buAutoNum type="alphaLcPeriod"/>
            </a:pPr>
            <a:r>
              <a:rPr lang="en-US" sz="1400" dirty="0"/>
              <a:t>Grade level and teacher </a:t>
            </a:r>
          </a:p>
          <a:p>
            <a:r>
              <a:rPr lang="en-US" b="1" dirty="0"/>
              <a:t>Section 2: Importance and Accuracy</a:t>
            </a:r>
          </a:p>
          <a:p>
            <a:pPr marL="457200" indent="-457200">
              <a:buAutoNum type="arabicPeriod"/>
            </a:pPr>
            <a:r>
              <a:rPr lang="en-US" dirty="0"/>
              <a:t>Why is accuracy important when completing ILPs?</a:t>
            </a:r>
          </a:p>
          <a:p>
            <a:pPr>
              <a:buFont typeface="Arial" panose="020B0604020202020204" pitchFamily="34" charset="0"/>
              <a:buChar char="•"/>
            </a:pPr>
            <a:r>
              <a:rPr lang="en-US" sz="1400" dirty="0">
                <a:solidFill>
                  <a:schemeClr val="accent1">
                    <a:lumMod val="60000"/>
                    <a:lumOff val="40000"/>
                  </a:schemeClr>
                </a:solidFill>
              </a:rPr>
              <a:t> a. </a:t>
            </a:r>
            <a:r>
              <a:rPr lang="en-US" sz="1400" dirty="0"/>
              <a:t>Accuracy affects school funding </a:t>
            </a:r>
          </a:p>
          <a:p>
            <a:pPr marL="400050" lvl="1" indent="0">
              <a:buNone/>
            </a:pPr>
            <a:r>
              <a:rPr lang="en-US" sz="1400" dirty="0">
                <a:solidFill>
                  <a:schemeClr val="accent1">
                    <a:lumMod val="60000"/>
                    <a:lumOff val="40000"/>
                  </a:schemeClr>
                </a:solidFill>
              </a:rPr>
              <a:t>b. </a:t>
            </a:r>
            <a:r>
              <a:rPr lang="en-US" sz="1400" dirty="0"/>
              <a:t>Teacher scores are affected</a:t>
            </a:r>
          </a:p>
          <a:p>
            <a:pPr marL="400050" lvl="1" indent="0">
              <a:buNone/>
            </a:pPr>
            <a:r>
              <a:rPr lang="en-US" sz="1400" dirty="0">
                <a:solidFill>
                  <a:schemeClr val="accent1">
                    <a:lumMod val="60000"/>
                    <a:lumOff val="40000"/>
                  </a:schemeClr>
                </a:solidFill>
              </a:rPr>
              <a:t>c. </a:t>
            </a:r>
            <a:r>
              <a:rPr lang="en-US" sz="1400" dirty="0"/>
              <a:t>Students may be dropped from school rosters</a:t>
            </a:r>
            <a:endParaRPr lang="en-US" sz="1400" dirty="0">
              <a:solidFill>
                <a:schemeClr val="accent1">
                  <a:lumMod val="60000"/>
                  <a:lumOff val="40000"/>
                </a:schemeClr>
              </a:solidFill>
            </a:endParaRPr>
          </a:p>
        </p:txBody>
      </p:sp>
      <p:pic>
        <p:nvPicPr>
          <p:cNvPr id="13" name="Audio 12">
            <a:extLst>
              <a:ext uri="{FF2B5EF4-FFF2-40B4-BE49-F238E27FC236}">
                <a16:creationId xmlns:a16="http://schemas.microsoft.com/office/drawing/2014/main" id="{D3127808-5A94-DE88-FCF3-551E06F5817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102423909"/>
      </p:ext>
    </p:extLst>
  </p:cSld>
  <p:clrMapOvr>
    <a:masterClrMapping/>
  </p:clrMapOvr>
  <mc:AlternateContent xmlns:mc="http://schemas.openxmlformats.org/markup-compatibility/2006">
    <mc:Choice xmlns:p14="http://schemas.microsoft.com/office/powerpoint/2010/main" Requires="p14">
      <p:transition spd="slow" p14:dur="2000" advTm="67310"/>
    </mc:Choice>
    <mc:Fallback>
      <p:transition spd="slow" advTm="673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5">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AA085689-791F-4B8F-9F30-12415B97D36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7" name="Picture 36">
            <a:extLst>
              <a:ext uri="{FF2B5EF4-FFF2-40B4-BE49-F238E27FC236}">
                <a16:creationId xmlns:a16="http://schemas.microsoft.com/office/drawing/2014/main" id="{AA3FED7F-6821-47C0-A464-E9278B24129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8" name="Oval 37">
            <a:extLst>
              <a:ext uri="{FF2B5EF4-FFF2-40B4-BE49-F238E27FC236}">
                <a16:creationId xmlns:a16="http://schemas.microsoft.com/office/drawing/2014/main" id="{8F54B2FB-3F54-4350-8D1B-F86D677CA7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9" name="Picture 38">
            <a:extLst>
              <a:ext uri="{FF2B5EF4-FFF2-40B4-BE49-F238E27FC236}">
                <a16:creationId xmlns:a16="http://schemas.microsoft.com/office/drawing/2014/main" id="{561B34F5-88E5-4711-BC16-3005C29AD7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8">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0" name="Picture 39">
            <a:extLst>
              <a:ext uri="{FF2B5EF4-FFF2-40B4-BE49-F238E27FC236}">
                <a16:creationId xmlns:a16="http://schemas.microsoft.com/office/drawing/2014/main" id="{4F3661D0-2268-4D3E-88BA-0647BCBE33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9">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41" name="Rectangle 40">
            <a:extLst>
              <a:ext uri="{FF2B5EF4-FFF2-40B4-BE49-F238E27FC236}">
                <a16:creationId xmlns:a16="http://schemas.microsoft.com/office/drawing/2014/main" id="{DDB56DB5-0324-4F79-9AB8-CB18C1DC8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itle 3">
            <a:extLst>
              <a:ext uri="{FF2B5EF4-FFF2-40B4-BE49-F238E27FC236}">
                <a16:creationId xmlns:a16="http://schemas.microsoft.com/office/drawing/2014/main" id="{598BDE1A-2C7D-7E08-832F-6EEE893AADE0}"/>
              </a:ext>
            </a:extLst>
          </p:cNvPr>
          <p:cNvSpPr>
            <a:spLocks noGrp="1"/>
          </p:cNvSpPr>
          <p:nvPr>
            <p:ph type="title"/>
          </p:nvPr>
        </p:nvSpPr>
        <p:spPr>
          <a:xfrm>
            <a:off x="5282382" y="1454964"/>
            <a:ext cx="6261917" cy="3308840"/>
          </a:xfrm>
        </p:spPr>
        <p:txBody>
          <a:bodyPr vert="horz" lIns="91440" tIns="45720" rIns="91440" bIns="45720" rtlCol="0" anchor="b">
            <a:normAutofit/>
          </a:bodyPr>
          <a:lstStyle/>
          <a:p>
            <a:r>
              <a:rPr lang="en-US" sz="7200"/>
              <a:t>Job Aid/Handout </a:t>
            </a:r>
          </a:p>
        </p:txBody>
      </p:sp>
      <p:sp>
        <p:nvSpPr>
          <p:cNvPr id="7" name="TextBox 6">
            <a:extLst>
              <a:ext uri="{FF2B5EF4-FFF2-40B4-BE49-F238E27FC236}">
                <a16:creationId xmlns:a16="http://schemas.microsoft.com/office/drawing/2014/main" id="{87466E91-BBE2-1175-B853-25932992E849}"/>
              </a:ext>
            </a:extLst>
          </p:cNvPr>
          <p:cNvSpPr txBox="1"/>
          <p:nvPr/>
        </p:nvSpPr>
        <p:spPr>
          <a:xfrm>
            <a:off x="5282382" y="4763803"/>
            <a:ext cx="6261917" cy="1464378"/>
          </a:xfrm>
          <a:prstGeom prst="rect">
            <a:avLst/>
          </a:prstGeom>
        </p:spPr>
        <p:txBody>
          <a:bodyPr vert="horz" lIns="91440" tIns="45720" rIns="91440" bIns="45720" rtlCol="0" anchor="t">
            <a:normAutofit/>
          </a:bodyPr>
          <a:lstStyle/>
          <a:p>
            <a:pPr>
              <a:spcBef>
                <a:spcPts val="1000"/>
              </a:spcBef>
              <a:buClr>
                <a:schemeClr val="accent1"/>
              </a:buClr>
              <a:buSzPct val="80000"/>
            </a:pPr>
            <a:r>
              <a:rPr lang="en-US" sz="2000" cap="all">
                <a:solidFill>
                  <a:schemeClr val="accent1"/>
                </a:solidFill>
                <a:latin typeface="+mj-lt"/>
                <a:ea typeface="+mj-ea"/>
                <a:cs typeface="+mj-cs"/>
              </a:rPr>
              <a:t>Module 1</a:t>
            </a:r>
          </a:p>
        </p:txBody>
      </p:sp>
      <p:pic>
        <p:nvPicPr>
          <p:cNvPr id="13" name="Content Placeholder 12">
            <a:extLst>
              <a:ext uri="{FF2B5EF4-FFF2-40B4-BE49-F238E27FC236}">
                <a16:creationId xmlns:a16="http://schemas.microsoft.com/office/drawing/2014/main" id="{05D633B3-4B45-C47C-9186-2A2C518F6596}"/>
              </a:ext>
            </a:extLst>
          </p:cNvPr>
          <p:cNvPicPr>
            <a:picLocks noGrp="1" noChangeAspect="1"/>
          </p:cNvPicPr>
          <p:nvPr>
            <p:ph sz="half" idx="2"/>
          </p:nvPr>
        </p:nvPicPr>
        <p:blipFill>
          <a:blip r:embed="rId10"/>
          <a:srcRect r="17333"/>
          <a:stretch>
            <a:fillRect/>
          </a:stretch>
        </p:blipFill>
        <p:spPr>
          <a:xfrm>
            <a:off x="-164326" y="0"/>
            <a:ext cx="4634681" cy="6857990"/>
          </a:xfrm>
          <a:prstGeom prst="rect">
            <a:avLst/>
          </a:prstGeom>
        </p:spPr>
      </p:pic>
      <p:pic>
        <p:nvPicPr>
          <p:cNvPr id="29" name="Audio 28">
            <a:extLst>
              <a:ext uri="{FF2B5EF4-FFF2-40B4-BE49-F238E27FC236}">
                <a16:creationId xmlns:a16="http://schemas.microsoft.com/office/drawing/2014/main" id="{48FAE3A5-1F9B-398A-81E9-535A28E616D1}"/>
              </a:ext>
            </a:extLst>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26152971"/>
      </p:ext>
    </p:extLst>
  </p:cSld>
  <p:clrMapOvr>
    <a:masterClrMapping/>
  </p:clrMapOvr>
  <mc:AlternateContent xmlns:mc="http://schemas.openxmlformats.org/markup-compatibility/2006">
    <mc:Choice xmlns:p14="http://schemas.microsoft.com/office/powerpoint/2010/main" Requires="p14">
      <p:transition spd="slow" p14:dur="2000" advTm="14668"/>
    </mc:Choice>
    <mc:Fallback>
      <p:transition spd="slow" advTm="1466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9"/>
                                        </p:tgtEl>
                                      </p:cBhvr>
                                    </p:cmd>
                                  </p:childTnLst>
                                </p:cTn>
                              </p:par>
                              <p:par>
                                <p:cTn id="7" presetID="10" presetClass="entr" presetSubtype="0" fill="hold" grpId="0" nodeType="withEffect">
                                  <p:stCondLst>
                                    <p:cond delay="1000"/>
                                  </p:stCondLst>
                                  <p:iterate>
                                    <p:tmPct val="10000"/>
                                  </p:iterate>
                                  <p:childTnLst>
                                    <p:set>
                                      <p:cBhvr>
                                        <p:cTn id="8" dur="1" fill="hold">
                                          <p:stCondLst>
                                            <p:cond delay="0"/>
                                          </p:stCondLst>
                                        </p:cTn>
                                        <p:tgtEl>
                                          <p:spTgt spid="4"/>
                                        </p:tgtEl>
                                        <p:attrNameLst>
                                          <p:attrName>style.visibility</p:attrName>
                                        </p:attrNameLst>
                                      </p:cBhvr>
                                      <p:to>
                                        <p:strVal val="visible"/>
                                      </p:to>
                                    </p:set>
                                    <p:animEffect transition="in" filter="fade">
                                      <p:cBhvr>
                                        <p:cTn id="9"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29"/>
                </p:tgtEl>
              </p:cMediaNode>
            </p:audio>
          </p:childTnLst>
        </p:cTn>
      </p:par>
    </p:tnLst>
    <p:bldLst>
      <p:bldP spid="4"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46917</TotalTime>
  <Words>1033</Words>
  <Application>Microsoft Macintosh PowerPoint</Application>
  <PresentationFormat>Widescreen</PresentationFormat>
  <Paragraphs>139</Paragraphs>
  <Slides>13</Slides>
  <Notes>13</Notes>
  <HiddenSlides>0</HiddenSlides>
  <MMClips>13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Century Gothic</vt:lpstr>
      <vt:lpstr>Wingdings 3</vt:lpstr>
      <vt:lpstr>Ion</vt:lpstr>
      <vt:lpstr>Transferring ESL Data Across Platforms: Accurately Completing ILPs</vt:lpstr>
      <vt:lpstr>Statement of Instructional Opportunity</vt:lpstr>
      <vt:lpstr>Training Format &amp; Logistics as Aligned with Learner Need</vt:lpstr>
      <vt:lpstr>Objectives </vt:lpstr>
      <vt:lpstr>Activities and Assessments </vt:lpstr>
      <vt:lpstr>Deep Dive: Objective 1  </vt:lpstr>
      <vt:lpstr>Objective 1</vt:lpstr>
      <vt:lpstr>Instructional Strategy </vt:lpstr>
      <vt:lpstr>Training video </vt:lpstr>
      <vt:lpstr>Module 1:Activity </vt:lpstr>
      <vt:lpstr>Activity Example</vt:lpstr>
      <vt:lpstr>Assessment: Training Quiz </vt:lpstr>
      <vt:lpstr>Job Aid/Handout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Nabrittney Douglas</dc:creator>
  <cp:lastModifiedBy>Nabrittney Douglas</cp:lastModifiedBy>
  <cp:revision>6</cp:revision>
  <dcterms:created xsi:type="dcterms:W3CDTF">2026-04-26T04:11:22Z</dcterms:created>
  <dcterms:modified xsi:type="dcterms:W3CDTF">2026-05-28T18:09:19Z</dcterms:modified>
</cp:coreProperties>
</file>